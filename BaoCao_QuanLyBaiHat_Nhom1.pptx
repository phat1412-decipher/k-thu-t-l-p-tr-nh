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4" r:id="rId6"/>
    <p:sldId id="263" r:id="rId7"/>
    <p:sldId id="283" r:id="rId8"/>
    <p:sldId id="284" r:id="rId9"/>
    <p:sldId id="266" r:id="rId10"/>
    <p:sldId id="285" r:id="rId11"/>
    <p:sldId id="286" r:id="rId12"/>
    <p:sldId id="275" r:id="rId13"/>
    <p:sldId id="276" r:id="rId14"/>
    <p:sldId id="279" r:id="rId15"/>
    <p:sldId id="280" r:id="rId16"/>
    <p:sldId id="281" r:id="rId17"/>
    <p:sldId id="282" r:id="rId18"/>
  </p:sldIdLst>
  <p:sldSz cx="12192000" cy="6858000"/>
  <p:notesSz cx="6858000" cy="9144000"/>
  <p:embeddedFontLs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Quattrocento Sans" panose="020B0604020202020204" charset="0"/>
      <p:regular r:id="rId24"/>
      <p:bold r:id="rId25"/>
      <p:italic r:id="rId26"/>
      <p:boldItalic r:id="rId27"/>
    </p:embeddedFont>
    <p:embeddedFont>
      <p:font typeface="Roboto" panose="02000000000000000000" pitchFamily="2" charset="0"/>
      <p:regular r:id="rId28"/>
      <p:bold r:id="rId29"/>
      <p:italic r:id="rId30"/>
      <p:boldItalic r:id="rId31"/>
    </p:embeddedFont>
    <p:embeddedFont>
      <p:font typeface="Roboto Black" panose="02000000000000000000" pitchFamily="2" charset="0"/>
      <p:bold r:id="rId32"/>
      <p:boldItalic r:id="rId33"/>
    </p:embeddedFont>
    <p:embeddedFont>
      <p:font typeface="Roboto Medium" pitchFamily="2" charset="0"/>
      <p:regular r:id="rId34"/>
      <p:bold r:id="rId35"/>
      <p:italic r:id="rId36"/>
      <p:boldItalic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60">
          <p15:clr>
            <a:srgbClr val="A4A3A4"/>
          </p15:clr>
        </p15:guide>
        <p15:guide id="2" pos="7392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8" roundtripDataSignature="AMtx7mhZvbDvMNgvKoY36iGkAiDcwbiTZ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6145267-B3DB-4557-BC89-240FBBC10655}">
  <a:tblStyle styleId="{F6145267-B3DB-4557-BC89-240FBBC10655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DF0E6"/>
          </a:solidFill>
        </a:fill>
      </a:tcStyle>
    </a:wholeTbl>
    <a:band1H>
      <a:tcTxStyle/>
      <a:tcStyle>
        <a:tcBdr/>
        <a:fill>
          <a:solidFill>
            <a:srgbClr val="FBE1C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FBE1C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67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21" Type="http://schemas.openxmlformats.org/officeDocument/2006/relationships/font" Target="fonts/font2.fntdata"/><Relationship Id="rId34" Type="http://schemas.openxmlformats.org/officeDocument/2006/relationships/font" Target="fonts/font15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font" Target="fonts/font1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font" Target="fonts/font17.fntdata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font" Target="fonts/font16.fntdata"/><Relationship Id="rId48" Type="http://customschemas.google.com/relationships/presentationmetadata" Target="metadata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font" Target="fonts/font1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5" name="Google Shape;12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b="0" i="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ID=d924773e-9a16-4d6d-9803-8cb819e99682</a:t>
            </a:r>
            <a:br>
              <a:rPr lang="en-US"/>
            </a:br>
            <a:r>
              <a:rPr lang="en-US"/>
              <a:t>Recipe=text_billboard</a:t>
            </a:r>
            <a:br>
              <a:rPr lang="en-US"/>
            </a:br>
            <a:r>
              <a:rPr lang="en-US"/>
              <a:t>Type=TextOnly</a:t>
            </a:r>
            <a:br>
              <a:rPr lang="en-US"/>
            </a:br>
            <a:r>
              <a:rPr lang="en-US"/>
              <a:t>Variant=0</a:t>
            </a:r>
            <a:br>
              <a:rPr lang="en-US"/>
            </a:br>
            <a:r>
              <a:rPr lang="en-US"/>
              <a:t>FamilyID=AccentBoxWalbaum_Zero</a:t>
            </a:r>
            <a:endParaRPr/>
          </a:p>
        </p:txBody>
      </p:sp>
      <p:sp>
        <p:nvSpPr>
          <p:cNvPr id="126" name="Google Shape;126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3" name="Google Shape;133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6" name="Google Shape;146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8e74d4e989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4" name="Google Shape;154;g38e74d4e989_0_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5" name="Google Shape;155;g38e74d4e989_0_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9" name="Google Shape;209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0" name="Google Shape;210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0" name="Google Shape;20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1" name="Google Shape;201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3" name="Google Shape;24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44" name="Google Shape;24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5" name="Google Shape;335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6" name="Google Shape;336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4" name="Google Shape;344;p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45" name="Google Shape;345;p3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1" name="Google Shape;37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72" name="Google Shape;37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0" name="Google Shape;38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81" name="Google Shape;381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9" name="Google Shape;389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0" name="Google Shape;390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8" name="Google Shape;39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>
            <a:spLocks noGrp="1"/>
          </p:cNvSpPr>
          <p:nvPr>
            <p:ph type="ctrTitle"/>
          </p:nvPr>
        </p:nvSpPr>
        <p:spPr>
          <a:xfrm>
            <a:off x="1801368" y="1664208"/>
            <a:ext cx="8586300" cy="21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6600"/>
              <a:buFont typeface="Roboto Black"/>
              <a:buNone/>
              <a:defRPr sz="6600" b="0"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9pPr>
          </a:lstStyle>
          <a:p>
            <a:endParaRPr/>
          </a:p>
        </p:txBody>
      </p:sp>
      <p:sp>
        <p:nvSpPr>
          <p:cNvPr id="17" name="Google Shape;17;p17"/>
          <p:cNvSpPr txBox="1">
            <a:spLocks noGrp="1"/>
          </p:cNvSpPr>
          <p:nvPr>
            <p:ph type="subTitle" idx="1"/>
          </p:nvPr>
        </p:nvSpPr>
        <p:spPr>
          <a:xfrm>
            <a:off x="2487168" y="4142232"/>
            <a:ext cx="72237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Medium"/>
              <a:buNone/>
              <a:defRPr sz="28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8"/>
          <p:cNvSpPr/>
          <p:nvPr/>
        </p:nvSpPr>
        <p:spPr>
          <a:xfrm>
            <a:off x="1780130" y="95350"/>
            <a:ext cx="417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8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800"/>
              <a:buFont typeface="Quattrocento Sans"/>
              <a:buNone/>
              <a:defRPr sz="3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7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1" i="0" u="none" strike="noStrike" cap="none">
                <a:solidFill>
                  <a:schemeClr val="l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Google Shape;23;p18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2300"/>
              <a:buFont typeface="Quattrocento Sans"/>
              <a:buNone/>
              <a:defRPr sz="2300">
                <a:solidFill>
                  <a:srgbClr val="FF990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9pPr>
          </a:lstStyle>
          <a:p>
            <a:endParaRPr/>
          </a:p>
        </p:txBody>
      </p:sp>
      <p:sp>
        <p:nvSpPr>
          <p:cNvPr id="24" name="Google Shape;24;p18"/>
          <p:cNvSpPr/>
          <p:nvPr/>
        </p:nvSpPr>
        <p:spPr>
          <a:xfrm>
            <a:off x="1921650" y="585375"/>
            <a:ext cx="417300" cy="214200"/>
          </a:xfrm>
          <a:prstGeom prst="homePlate">
            <a:avLst>
              <a:gd name="adj" fmla="val 60423"/>
            </a:avLst>
          </a:prstGeom>
          <a:solidFill>
            <a:srgbClr val="0033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4 pictures">
  <p:cSld name="Title and Content with 4 picture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9"/>
          <p:cNvSpPr/>
          <p:nvPr/>
        </p:nvSpPr>
        <p:spPr>
          <a:xfrm>
            <a:off x="7324344" y="630936"/>
            <a:ext cx="4517100" cy="549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 w="9525" cap="flat" cmpd="sng">
            <a:solidFill>
              <a:srgbClr val="E8E8E8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D8D8D8">
                <a:alpha val="2862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9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5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>
            <a:spLocks noGrp="1"/>
          </p:cNvSpPr>
          <p:nvPr>
            <p:ph type="pic" idx="2"/>
          </p:nvPr>
        </p:nvSpPr>
        <p:spPr>
          <a:xfrm>
            <a:off x="895522" y="859155"/>
            <a:ext cx="6016800" cy="4910400"/>
          </a:xfrm>
          <a:prstGeom prst="rect">
            <a:avLst/>
          </a:prstGeom>
          <a:noFill/>
          <a:ln>
            <a:noFill/>
          </a:ln>
        </p:spPr>
      </p:sp>
      <p:sp>
        <p:nvSpPr>
          <p:cNvPr id="29" name="Google Shape;29;p19"/>
          <p:cNvSpPr/>
          <p:nvPr/>
        </p:nvSpPr>
        <p:spPr>
          <a:xfrm>
            <a:off x="7260336" y="1179576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9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1" name="Google Shape;31;p19"/>
          <p:cNvSpPr/>
          <p:nvPr/>
        </p:nvSpPr>
        <p:spPr>
          <a:xfrm>
            <a:off x="7792216" y="2185416"/>
            <a:ext cx="36831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19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>
            <a:spLocks noGrp="1"/>
          </p:cNvSpPr>
          <p:nvPr>
            <p:ph type="pic" idx="5"/>
          </p:nvPr>
        </p:nvSpPr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36" name="Google Shape;36;p19"/>
          <p:cNvSpPr>
            <a:spLocks noGrp="1"/>
          </p:cNvSpPr>
          <p:nvPr>
            <p:ph type="pic" idx="6"/>
          </p:nvPr>
        </p:nvSpPr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37" name="Google Shape;37;p19"/>
          <p:cNvSpPr>
            <a:spLocks noGrp="1"/>
          </p:cNvSpPr>
          <p:nvPr>
            <p:ph type="pic" idx="7"/>
          </p:nvPr>
        </p:nvSpPr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0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70134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1"/>
          </p:nvPr>
        </p:nvSpPr>
        <p:spPr>
          <a:xfrm>
            <a:off x="8613648" y="1938528"/>
            <a:ext cx="2688300" cy="299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20"/>
          <p:cNvSpPr/>
          <p:nvPr/>
        </p:nvSpPr>
        <p:spPr>
          <a:xfrm>
            <a:off x="609084" y="2965074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0"/>
          <p:cNvSpPr/>
          <p:nvPr/>
        </p:nvSpPr>
        <p:spPr>
          <a:xfrm rot="5400000">
            <a:off x="7360671" y="3424440"/>
            <a:ext cx="21030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0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pictures">
  <p:cSld name="Title and Content with picture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1"/>
          <p:cNvSpPr txBox="1">
            <a:spLocks noGrp="1"/>
          </p:cNvSpPr>
          <p:nvPr>
            <p:ph type="title"/>
          </p:nvPr>
        </p:nvSpPr>
        <p:spPr>
          <a:xfrm>
            <a:off x="5084064" y="889393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body" idx="1"/>
          </p:nvPr>
        </p:nvSpPr>
        <p:spPr>
          <a:xfrm>
            <a:off x="5102352" y="2727631"/>
            <a:ext cx="6272700" cy="30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8" name="Google Shape;48;p21"/>
          <p:cNvSpPr/>
          <p:nvPr/>
        </p:nvSpPr>
        <p:spPr>
          <a:xfrm rot="5400000">
            <a:off x="5317906" y="363383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1"/>
          <p:cNvSpPr/>
          <p:nvPr/>
        </p:nvSpPr>
        <p:spPr>
          <a:xfrm>
            <a:off x="5065776" y="2553749"/>
            <a:ext cx="6291000" cy="4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1"/>
          <p:cNvSpPr>
            <a:spLocks noGrp="1"/>
          </p:cNvSpPr>
          <p:nvPr>
            <p:ph type="pic" idx="2"/>
          </p:nvPr>
        </p:nvSpPr>
        <p:spPr>
          <a:xfrm>
            <a:off x="457200" y="895738"/>
            <a:ext cx="4050900" cy="483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2 pictures">
  <p:cSld name="Title and Content with 2 picture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2"/>
          <p:cNvSpPr txBox="1">
            <a:spLocks noGrp="1"/>
          </p:cNvSpPr>
          <p:nvPr>
            <p:ph type="title"/>
          </p:nvPr>
        </p:nvSpPr>
        <p:spPr>
          <a:xfrm>
            <a:off x="612648" y="1074888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body" idx="1"/>
          </p:nvPr>
        </p:nvSpPr>
        <p:spPr>
          <a:xfrm>
            <a:off x="612648" y="3009498"/>
            <a:ext cx="62727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sldNum" idx="12"/>
          </p:nvPr>
        </p:nvSpPr>
        <p:spPr>
          <a:xfrm>
            <a:off x="5605272" y="6356350"/>
            <a:ext cx="1280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5" name="Google Shape;55;p22"/>
          <p:cNvSpPr/>
          <p:nvPr/>
        </p:nvSpPr>
        <p:spPr>
          <a:xfrm rot="5400000">
            <a:off x="850338" y="629660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2"/>
          <p:cNvSpPr>
            <a:spLocks noGrp="1"/>
          </p:cNvSpPr>
          <p:nvPr>
            <p:ph type="pic" idx="2"/>
          </p:nvPr>
        </p:nvSpPr>
        <p:spPr>
          <a:xfrm>
            <a:off x="7684008" y="3204504"/>
            <a:ext cx="4508100" cy="2505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22"/>
          <p:cNvSpPr>
            <a:spLocks noGrp="1"/>
          </p:cNvSpPr>
          <p:nvPr>
            <p:ph type="pic" idx="3"/>
          </p:nvPr>
        </p:nvSpPr>
        <p:spPr>
          <a:xfrm>
            <a:off x="7680960" y="1074888"/>
            <a:ext cx="4508100" cy="18549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22"/>
          <p:cNvSpPr/>
          <p:nvPr/>
        </p:nvSpPr>
        <p:spPr>
          <a:xfrm>
            <a:off x="612648" y="2801145"/>
            <a:ext cx="6217800" cy="183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557784" y="640080"/>
            <a:ext cx="108906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800"/>
              <a:buFont typeface="Quattrocento Sans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/>
          <p:nvPr/>
        </p:nvSpPr>
        <p:spPr>
          <a:xfrm>
            <a:off x="498834" y="5118581"/>
            <a:ext cx="1464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41248" y="5102352"/>
            <a:ext cx="9207900" cy="585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4"/>
          <p:cNvSpPr>
            <a:spLocks noGrp="1"/>
          </p:cNvSpPr>
          <p:nvPr>
            <p:ph type="pic" idx="2"/>
          </p:nvPr>
        </p:nvSpPr>
        <p:spPr>
          <a:xfrm>
            <a:off x="542239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24"/>
          <p:cNvSpPr>
            <a:spLocks noGrp="1"/>
          </p:cNvSpPr>
          <p:nvPr>
            <p:ph type="pic" idx="3"/>
          </p:nvPr>
        </p:nvSpPr>
        <p:spPr>
          <a:xfrm>
            <a:off x="57607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24"/>
          <p:cNvSpPr>
            <a:spLocks noGrp="1"/>
          </p:cNvSpPr>
          <p:nvPr>
            <p:ph type="pic" idx="4"/>
          </p:nvPr>
        </p:nvSpPr>
        <p:spPr>
          <a:xfrm>
            <a:off x="784555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4"/>
          <p:cNvSpPr/>
          <p:nvPr/>
        </p:nvSpPr>
        <p:spPr>
          <a:xfrm>
            <a:off x="1540857" y="876618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24"/>
          <p:cNvSpPr txBox="1">
            <a:spLocks noGrp="1"/>
          </p:cNvSpPr>
          <p:nvPr>
            <p:ph type="title"/>
          </p:nvPr>
        </p:nvSpPr>
        <p:spPr>
          <a:xfrm>
            <a:off x="1732881" y="721106"/>
            <a:ext cx="9100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>
            <a:spLocks noGrp="1"/>
          </p:cNvSpPr>
          <p:nvPr>
            <p:ph type="pic" idx="5"/>
          </p:nvPr>
        </p:nvSpPr>
        <p:spPr>
          <a:xfrm>
            <a:off x="299923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24"/>
          <p:cNvSpPr>
            <a:spLocks noGrp="1"/>
          </p:cNvSpPr>
          <p:nvPr>
            <p:ph type="pic" idx="6"/>
          </p:nvPr>
        </p:nvSpPr>
        <p:spPr>
          <a:xfrm>
            <a:off x="1026871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3" name="Google Shape;73;p24"/>
          <p:cNvSpPr txBox="1">
            <a:spLocks noGrp="1"/>
          </p:cNvSpPr>
          <p:nvPr>
            <p:ph type="body" idx="1"/>
          </p:nvPr>
        </p:nvSpPr>
        <p:spPr>
          <a:xfrm>
            <a:off x="543153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24"/>
          <p:cNvSpPr txBox="1">
            <a:spLocks noGrp="1"/>
          </p:cNvSpPr>
          <p:nvPr>
            <p:ph type="body" idx="7"/>
          </p:nvPr>
        </p:nvSpPr>
        <p:spPr>
          <a:xfrm>
            <a:off x="784555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8"/>
          </p:nvPr>
        </p:nvSpPr>
        <p:spPr>
          <a:xfrm>
            <a:off x="1026871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body" idx="9"/>
          </p:nvPr>
        </p:nvSpPr>
        <p:spPr>
          <a:xfrm>
            <a:off x="594360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body" idx="13"/>
          </p:nvPr>
        </p:nvSpPr>
        <p:spPr>
          <a:xfrm>
            <a:off x="300837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5"/>
          <p:cNvSpPr/>
          <p:nvPr/>
        </p:nvSpPr>
        <p:spPr>
          <a:xfrm>
            <a:off x="1512865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>
            <a:off x="1640881" y="503825"/>
            <a:ext cx="92589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>
            <a:off x="466343" y="2270703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body" idx="2"/>
          </p:nvPr>
        </p:nvSpPr>
        <p:spPr>
          <a:xfrm>
            <a:off x="466344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body" idx="3"/>
          </p:nvPr>
        </p:nvSpPr>
        <p:spPr>
          <a:xfrm>
            <a:off x="6220409" y="2256140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body" idx="4"/>
          </p:nvPr>
        </p:nvSpPr>
        <p:spPr>
          <a:xfrm>
            <a:off x="6220409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25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column">
  <p:cSld name="Comparison 3 colum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6"/>
          <p:cNvSpPr/>
          <p:nvPr/>
        </p:nvSpPr>
        <p:spPr>
          <a:xfrm>
            <a:off x="1493520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26"/>
          <p:cNvSpPr txBox="1">
            <a:spLocks noGrp="1"/>
          </p:cNvSpPr>
          <p:nvPr>
            <p:ph type="title"/>
          </p:nvPr>
        </p:nvSpPr>
        <p:spPr>
          <a:xfrm>
            <a:off x="1557528" y="548640"/>
            <a:ext cx="99564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6"/>
          <p:cNvSpPr txBox="1">
            <a:spLocks noGrp="1"/>
          </p:cNvSpPr>
          <p:nvPr>
            <p:ph type="body" idx="1"/>
          </p:nvPr>
        </p:nvSpPr>
        <p:spPr>
          <a:xfrm>
            <a:off x="57607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26"/>
          <p:cNvSpPr txBox="1">
            <a:spLocks noGrp="1"/>
          </p:cNvSpPr>
          <p:nvPr>
            <p:ph type="body" idx="2"/>
          </p:nvPr>
        </p:nvSpPr>
        <p:spPr>
          <a:xfrm>
            <a:off x="576072" y="3203688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26"/>
          <p:cNvSpPr txBox="1">
            <a:spLocks noGrp="1"/>
          </p:cNvSpPr>
          <p:nvPr>
            <p:ph type="body" idx="3"/>
          </p:nvPr>
        </p:nvSpPr>
        <p:spPr>
          <a:xfrm>
            <a:off x="450799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26"/>
          <p:cNvSpPr txBox="1">
            <a:spLocks noGrp="1"/>
          </p:cNvSpPr>
          <p:nvPr>
            <p:ph type="body" idx="4"/>
          </p:nvPr>
        </p:nvSpPr>
        <p:spPr>
          <a:xfrm>
            <a:off x="450799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2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4" name="Google Shape;94;p26"/>
          <p:cNvSpPr txBox="1">
            <a:spLocks noGrp="1"/>
          </p:cNvSpPr>
          <p:nvPr>
            <p:ph type="body" idx="5"/>
          </p:nvPr>
        </p:nvSpPr>
        <p:spPr>
          <a:xfrm>
            <a:off x="843991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5" name="Google Shape;95;p26"/>
          <p:cNvSpPr txBox="1">
            <a:spLocks noGrp="1"/>
          </p:cNvSpPr>
          <p:nvPr>
            <p:ph type="body" idx="6"/>
          </p:nvPr>
        </p:nvSpPr>
        <p:spPr>
          <a:xfrm>
            <a:off x="843991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3 pictures">
  <p:cSld name="Title and Content with 3 picture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7"/>
          <p:cNvSpPr txBox="1">
            <a:spLocks noGrp="1"/>
          </p:cNvSpPr>
          <p:nvPr>
            <p:ph type="title"/>
          </p:nvPr>
        </p:nvSpPr>
        <p:spPr>
          <a:xfrm>
            <a:off x="841248" y="978408"/>
            <a:ext cx="40599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7"/>
          <p:cNvSpPr txBox="1">
            <a:spLocks noGrp="1"/>
          </p:cNvSpPr>
          <p:nvPr>
            <p:ph type="body" idx="1"/>
          </p:nvPr>
        </p:nvSpPr>
        <p:spPr>
          <a:xfrm>
            <a:off x="841248" y="2359152"/>
            <a:ext cx="40599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27"/>
          <p:cNvSpPr>
            <a:spLocks noGrp="1"/>
          </p:cNvSpPr>
          <p:nvPr>
            <p:ph type="pic" idx="2"/>
          </p:nvPr>
        </p:nvSpPr>
        <p:spPr>
          <a:xfrm>
            <a:off x="8961120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7"/>
          <p:cNvSpPr>
            <a:spLocks noGrp="1"/>
          </p:cNvSpPr>
          <p:nvPr>
            <p:ph type="pic" idx="3"/>
          </p:nvPr>
        </p:nvSpPr>
        <p:spPr>
          <a:xfrm>
            <a:off x="5843016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7"/>
          <p:cNvSpPr/>
          <p:nvPr/>
        </p:nvSpPr>
        <p:spPr>
          <a:xfrm>
            <a:off x="345567" y="1170432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7"/>
          <p:cNvSpPr/>
          <p:nvPr/>
        </p:nvSpPr>
        <p:spPr>
          <a:xfrm>
            <a:off x="877459" y="2121408"/>
            <a:ext cx="39588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7"/>
          <p:cNvSpPr>
            <a:spLocks noGrp="1"/>
          </p:cNvSpPr>
          <p:nvPr>
            <p:ph type="pic" idx="4"/>
          </p:nvPr>
        </p:nvSpPr>
        <p:spPr>
          <a:xfrm>
            <a:off x="5843016" y="3108960"/>
            <a:ext cx="5989200" cy="3054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27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8"/>
          <p:cNvSpPr/>
          <p:nvPr/>
        </p:nvSpPr>
        <p:spPr>
          <a:xfrm>
            <a:off x="609084" y="2971798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8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101772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0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0"/>
          <p:cNvSpPr txBox="1">
            <a:spLocks noGrp="1"/>
          </p:cNvSpPr>
          <p:nvPr>
            <p:ph type="title"/>
          </p:nvPr>
        </p:nvSpPr>
        <p:spPr>
          <a:xfrm>
            <a:off x="868680" y="1362456"/>
            <a:ext cx="3099900" cy="15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30"/>
          <p:cNvSpPr txBox="1">
            <a:spLocks noGrp="1"/>
          </p:cNvSpPr>
          <p:nvPr>
            <p:ph type="body" idx="1"/>
          </p:nvPr>
        </p:nvSpPr>
        <p:spPr>
          <a:xfrm>
            <a:off x="4965192" y="1162033"/>
            <a:ext cx="6729900" cy="46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5" name="Google Shape;115;p30"/>
          <p:cNvSpPr txBox="1">
            <a:spLocks noGrp="1"/>
          </p:cNvSpPr>
          <p:nvPr>
            <p:ph type="body" idx="2"/>
          </p:nvPr>
        </p:nvSpPr>
        <p:spPr>
          <a:xfrm>
            <a:off x="868680" y="3013788"/>
            <a:ext cx="3099900" cy="24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6" name="Google Shape;116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1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1"/>
          <p:cNvSpPr txBox="1">
            <a:spLocks noGrp="1"/>
          </p:cNvSpPr>
          <p:nvPr>
            <p:ph type="title"/>
          </p:nvPr>
        </p:nvSpPr>
        <p:spPr>
          <a:xfrm>
            <a:off x="868680" y="1709928"/>
            <a:ext cx="3099900" cy="17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31"/>
          <p:cNvSpPr>
            <a:spLocks noGrp="1"/>
          </p:cNvSpPr>
          <p:nvPr>
            <p:ph type="pic" idx="2"/>
          </p:nvPr>
        </p:nvSpPr>
        <p:spPr>
          <a:xfrm>
            <a:off x="4965192" y="1161288"/>
            <a:ext cx="6729900" cy="46452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31"/>
          <p:cNvSpPr txBox="1">
            <a:spLocks noGrp="1"/>
          </p:cNvSpPr>
          <p:nvPr>
            <p:ph type="body" idx="1"/>
          </p:nvPr>
        </p:nvSpPr>
        <p:spPr>
          <a:xfrm>
            <a:off x="868680" y="3438144"/>
            <a:ext cx="30999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2" name="Google Shape;122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gi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838200" y="839755"/>
            <a:ext cx="10515600" cy="8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400"/>
              <a:buFont typeface="Roboto Medium"/>
              <a:buNone/>
              <a:defRPr sz="4400" b="0" i="0" u="none" strike="noStrike" cap="none">
                <a:solidFill>
                  <a:srgbClr val="0033CC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Char char="•"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•"/>
              <a:defRPr sz="2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•"/>
              <a:defRPr sz="2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venir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Google Shape;13;p16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103568" y="-273096"/>
            <a:ext cx="1469263" cy="1469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16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10455475" y="93557"/>
            <a:ext cx="1657350" cy="7239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microsoft.com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"/>
          <p:cNvSpPr txBox="1">
            <a:spLocks noGrp="1"/>
          </p:cNvSpPr>
          <p:nvPr>
            <p:ph type="ctrTitle"/>
          </p:nvPr>
        </p:nvSpPr>
        <p:spPr>
          <a:xfrm>
            <a:off x="195575" y="1267875"/>
            <a:ext cx="11779200" cy="257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940"/>
              <a:buFont typeface="Quattrocento Sans"/>
              <a:buNone/>
            </a:pPr>
            <a:r>
              <a:rPr lang="en-US" sz="5640" b="1" dirty="0">
                <a:latin typeface="Times New Roman"/>
                <a:ea typeface="Times New Roman"/>
                <a:cs typeface="Times New Roman"/>
                <a:sym typeface="Times New Roman"/>
              </a:rPr>
              <a:t>BÁO CÁO ĐỒ ÁN CUỐI KỲ</a:t>
            </a:r>
            <a:endParaRPr sz="5640" b="1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940"/>
              <a:buNone/>
            </a:pPr>
            <a:r>
              <a:rPr lang="en-US" sz="5640" b="1" dirty="0">
                <a:latin typeface="Times New Roman"/>
                <a:ea typeface="Times New Roman"/>
                <a:cs typeface="Times New Roman"/>
                <a:sym typeface="Times New Roman"/>
              </a:rPr>
              <a:t>Quản Lý Bài Hát Trong Playlist</a:t>
            </a:r>
            <a:br>
              <a:rPr lang="en-US" sz="5640" b="1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4640" b="1" dirty="0">
                <a:latin typeface="Times New Roman"/>
                <a:ea typeface="Times New Roman"/>
                <a:cs typeface="Times New Roman"/>
                <a:sym typeface="Times New Roman"/>
              </a:rPr>
              <a:t>Môn: Kỹ Thuật Lập Trình</a:t>
            </a:r>
            <a:endParaRPr sz="4640" b="1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9" name="Google Shape;129;p1"/>
          <p:cNvSpPr txBox="1">
            <a:spLocks noGrp="1"/>
          </p:cNvSpPr>
          <p:nvPr>
            <p:ph type="subTitle" idx="1"/>
          </p:nvPr>
        </p:nvSpPr>
        <p:spPr>
          <a:xfrm>
            <a:off x="2487168" y="4142232"/>
            <a:ext cx="722376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</a:pP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Trường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Đại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Học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Lạc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Hồng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– Khoa CNTT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3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Giới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thiệu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Tên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đề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tài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&amp;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Nhóm</a:t>
            </a:r>
            <a:endParaRPr b="1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6" name="Google Shape;136;p3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1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7" name="Google Shape;137;p3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Thông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tin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đề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tài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và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thành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viên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nhóm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8" name="Google Shape;138;p3"/>
          <p:cNvSpPr txBox="1"/>
          <p:nvPr/>
        </p:nvSpPr>
        <p:spPr>
          <a:xfrm>
            <a:off x="4398344" y="2493358"/>
            <a:ext cx="3395307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Giảng viên:</a:t>
            </a:r>
            <a:r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Đoàn Thiện Minh</a:t>
            </a:r>
            <a:endParaRPr sz="2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3"/>
          <p:cNvSpPr txBox="1"/>
          <p:nvPr/>
        </p:nvSpPr>
        <p:spPr>
          <a:xfrm>
            <a:off x="4571402" y="2902576"/>
            <a:ext cx="304919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Nhóm:</a:t>
            </a:r>
            <a:r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Nhóm 1</a:t>
            </a:r>
            <a:endParaRPr sz="2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0" name="Google Shape;140;p3"/>
          <p:cNvSpPr txBox="1"/>
          <p:nvPr/>
        </p:nvSpPr>
        <p:spPr>
          <a:xfrm>
            <a:off x="2657475" y="3462982"/>
            <a:ext cx="7124700" cy="1969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Sinh</a:t>
            </a:r>
            <a:r>
              <a:rPr lang="en-US" sz="20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1" i="0" u="none" strike="noStrike" cap="none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viên</a:t>
            </a:r>
            <a:r>
              <a:rPr lang="en-US" sz="20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Trần Quang Huy – MSSV: 125001825 – 25CT113</a:t>
            </a:r>
            <a:br>
              <a:rPr lang="en-US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2000" b="1" i="0" u="none" strike="noStrike" cap="none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Thành</a:t>
            </a:r>
            <a:r>
              <a:rPr lang="en-US" sz="20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1" i="0" u="none" strike="noStrike" cap="none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Viên</a:t>
            </a:r>
            <a:r>
              <a:rPr lang="en-US" sz="20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Hoàng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Minh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Phát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– MSSV: 125001323 – 25CT113</a:t>
            </a:r>
            <a:br>
              <a:rPr lang="en-US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en-US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1" name="Google Shape;141;p3"/>
          <p:cNvSpPr txBox="1"/>
          <p:nvPr/>
        </p:nvSpPr>
        <p:spPr>
          <a:xfrm>
            <a:off x="1236147" y="1203698"/>
            <a:ext cx="9719705" cy="787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 dirty="0" err="1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Quản</a:t>
            </a:r>
            <a:r>
              <a:rPr lang="en-US" sz="2800" b="1" i="0" u="none" strike="noStrike" cap="none" dirty="0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b="1" i="0" u="none" strike="noStrike" cap="none" dirty="0" err="1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Lý</a:t>
            </a:r>
            <a:r>
              <a:rPr lang="en-US" sz="2800" b="1" i="0" u="none" strike="noStrike" cap="none" dirty="0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b="1" i="0" u="none" strike="noStrike" cap="none" dirty="0" err="1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Bài</a:t>
            </a:r>
            <a:r>
              <a:rPr lang="en-US" sz="2800" b="1" i="0" u="none" strike="noStrike" cap="none" dirty="0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b="1" i="0" u="none" strike="noStrike" cap="none" dirty="0" err="1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Hát</a:t>
            </a:r>
            <a:r>
              <a:rPr lang="en-US" sz="2800" b="1" i="0" u="none" strike="noStrike" cap="none" dirty="0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200" b="1" i="0" u="none" strike="noStrike" cap="none" dirty="0" err="1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Trong</a:t>
            </a:r>
            <a:r>
              <a:rPr lang="en-US" sz="2800" b="1" i="0" u="none" strike="noStrike" cap="none" dirty="0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Playlist</a:t>
            </a:r>
            <a:endParaRPr sz="1600" b="1" i="0" u="none" strike="noStrike" cap="none" dirty="0">
              <a:solidFill>
                <a:srgbClr val="0033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2" name="Google Shape;142;p3"/>
          <p:cNvSpPr txBox="1"/>
          <p:nvPr/>
        </p:nvSpPr>
        <p:spPr>
          <a:xfrm>
            <a:off x="3410392" y="2101406"/>
            <a:ext cx="5371212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Thời</a:t>
            </a:r>
            <a:r>
              <a:rPr lang="en-US" sz="20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1" i="0" u="none" strike="noStrike" cap="none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gian</a:t>
            </a:r>
            <a:r>
              <a:rPr lang="en-US" sz="20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1" i="0" u="none" strike="noStrike" cap="none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thực</a:t>
            </a:r>
            <a:r>
              <a:rPr lang="en-US" sz="20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1" i="0" u="none" strike="noStrike" cap="none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hiện</a:t>
            </a:r>
            <a:r>
              <a:rPr lang="en-US" sz="20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 HK2 –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Năm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học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2025-2026</a:t>
            </a:r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 b="1"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2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18992" cy="37715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628650" lvl="0" indent="-51435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US" sz="2400" b="1" dirty="0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GIỚI THIỆU ĐỀ TÀI: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Vấn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đề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thực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tế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mục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tiêu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giải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quyết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dirty="0"/>
          </a:p>
          <a:p>
            <a:pPr marL="628650" lvl="0" indent="-51435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US" sz="2400" b="1" dirty="0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MỤC</a:t>
            </a:r>
            <a:r>
              <a:rPr lang="en-US" sz="24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TIÊU &amp; KẾT QUẢ MONG ĐỢI: 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Khảo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sát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yêu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cầu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chức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năng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và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phi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chức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năng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dirty="0"/>
          </a:p>
          <a:p>
            <a:pPr marL="628650" lvl="0" indent="-51435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US" sz="2400" b="1" dirty="0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TIẾN ĐỘ THỰC HIỆN: 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Kiến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trúc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lưu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đồ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, CTDL &amp;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Thuật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toán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dirty="0"/>
          </a:p>
          <a:p>
            <a:pPr marL="628650" lvl="0" indent="-51435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US" sz="2400" b="1" dirty="0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KẾ HOẠCH TIẾP THEO: 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Giao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diện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kiểm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thử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kết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quả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thực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hiện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dirty="0"/>
          </a:p>
          <a:p>
            <a:pPr marL="628650" lvl="0" indent="-514350" algn="l" rtl="0">
              <a:lnSpc>
                <a:spcPct val="150000"/>
              </a:lnSpc>
              <a:spcBef>
                <a:spcPts val="1200"/>
              </a:spcBef>
              <a:spcAft>
                <a:spcPts val="600"/>
              </a:spcAft>
              <a:buSzPts val="1800"/>
              <a:buFont typeface="Arial"/>
              <a:buAutoNum type="arabicPeriod"/>
            </a:pPr>
            <a:r>
              <a:rPr lang="en-US" sz="2400" b="1" dirty="0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ĐÁNH GIÁ TIẾN ĐỘ: 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Tổng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kết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hạn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chế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và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hướng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phát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triển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dirty="0"/>
          </a:p>
        </p:txBody>
      </p:sp>
      <p:sp>
        <p:nvSpPr>
          <p:cNvPr id="150" name="Google Shape;150;p2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2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NỘI DUNG BÁO CÁO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8e74d4e989_0_25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Giới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Thiệu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Đề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Tài</a:t>
            </a:r>
            <a:endParaRPr b="1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8" name="Google Shape;158;g38e74d4e989_0_25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3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9" name="Google Shape;159;g38e74d4e989_0_25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54288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33"/>
              <a:buNone/>
            </a:pPr>
            <a:r>
              <a:rPr lang="en-US" sz="2100">
                <a:latin typeface="Times New Roman"/>
                <a:ea typeface="Times New Roman"/>
                <a:cs typeface="Times New Roman"/>
                <a:sym typeface="Times New Roman"/>
              </a:rPr>
              <a:t>Quản Lý Bài Hát Trong Playlist</a:t>
            </a:r>
            <a:endParaRPr sz="2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0" name="Google Shape;160;g38e74d4e989_0_25"/>
          <p:cNvSpPr txBox="1">
            <a:spLocks noGrp="1"/>
          </p:cNvSpPr>
          <p:nvPr>
            <p:ph type="body" idx="1"/>
          </p:nvPr>
        </p:nvSpPr>
        <p:spPr>
          <a:xfrm>
            <a:off x="0" y="1103518"/>
            <a:ext cx="8172450" cy="423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lvl="0" indent="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SzPct val="82949"/>
              <a:buNone/>
            </a:pP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VẤN ĐỀ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Bối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cảnh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thực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tế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endParaRPr sz="1900" dirty="0"/>
          </a:p>
          <a:p>
            <a:pPr marL="457200" lvl="0" indent="-3429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SzPct val="82949"/>
              <a:buChar char="•"/>
            </a:pP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Quản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lý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nhạc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thủ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công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Lưu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theo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kiểu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ghi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chép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không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có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thứ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tự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1900" dirty="0"/>
          </a:p>
          <a:p>
            <a:pPr marL="457200" lvl="0" indent="-3429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SzPct val="82949"/>
              <a:buChar char="•"/>
            </a:pP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Tìm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kiếm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chậm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Duyệt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tuần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tự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O(N)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khi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playlist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lớn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1900" b="1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29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SzPct val="82949"/>
              <a:buChar char="•"/>
            </a:pP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Không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thống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kê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Không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biết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bài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hát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nào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được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nghe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nhiều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nhất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</a:p>
          <a:p>
            <a:pPr marL="114300" lvl="0" indent="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SzPct val="82949"/>
              <a:buNone/>
            </a:pPr>
            <a:endParaRPr sz="1900" dirty="0"/>
          </a:p>
          <a:p>
            <a:pPr marL="114300" lvl="0" indent="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SzPct val="82949"/>
              <a:buNone/>
            </a:pP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GIẢI PHÁP 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(Console Python App)</a:t>
            </a:r>
            <a:endParaRPr sz="1900" dirty="0"/>
          </a:p>
          <a:p>
            <a:pPr marL="457200" lvl="0" indent="-3429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SzPct val="82949"/>
              <a:buChar char="•"/>
            </a:pP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CTDL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tối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ưu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Mảng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đối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tượng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+ Binary Search O(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logN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  <a:endParaRPr sz="1900" dirty="0"/>
          </a:p>
          <a:p>
            <a:pPr marL="457200" lvl="0" indent="-3429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SzPct val="82949"/>
              <a:buChar char="•"/>
            </a:pP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Tự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động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sắp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xếp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Phân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loại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ABC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ngay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khi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thêm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bài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hát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1900" dirty="0"/>
          </a:p>
          <a:p>
            <a:pPr marL="457200" lvl="0" indent="-3429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SzPct val="82949"/>
              <a:buChar char="•"/>
            </a:pP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Thống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kê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Ghi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nhận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tần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suất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tra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cứu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của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người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dùng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19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FE5D50-0818-47A9-B937-2D492058DF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3726" y="902350"/>
            <a:ext cx="4893287" cy="399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"/>
          <p:cNvSpPr txBox="1">
            <a:spLocks noGrp="1"/>
          </p:cNvSpPr>
          <p:nvPr>
            <p:ph type="title"/>
          </p:nvPr>
        </p:nvSpPr>
        <p:spPr>
          <a:xfrm>
            <a:off x="174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 b="1">
                <a:latin typeface="Times New Roman"/>
                <a:ea typeface="Times New Roman"/>
                <a:cs typeface="Times New Roman"/>
                <a:sym typeface="Times New Roman"/>
              </a:rPr>
              <a:t>Mục Tiêu Đề Tài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3" name="Google Shape;213;p4"/>
          <p:cNvSpPr txBox="1">
            <a:spLocks noGrp="1"/>
          </p:cNvSpPr>
          <p:nvPr>
            <p:ph type="sldNum" idx="12"/>
          </p:nvPr>
        </p:nvSpPr>
        <p:spPr>
          <a:xfrm>
            <a:off x="9294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4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4" name="Google Shape;214;p4"/>
          <p:cNvSpPr txBox="1">
            <a:spLocks noGrp="1"/>
          </p:cNvSpPr>
          <p:nvPr>
            <p:ph type="title" idx="2"/>
          </p:nvPr>
        </p:nvSpPr>
        <p:spPr>
          <a:xfrm>
            <a:off x="2305500" y="494450"/>
            <a:ext cx="4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Quản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Lý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Bài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Hát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Trong</a:t>
            </a: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 Playlist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15" name="Google Shape;215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2041" y="1179957"/>
            <a:ext cx="2552700" cy="3752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72124" y="1579141"/>
            <a:ext cx="400050" cy="466725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4"/>
          <p:cNvSpPr txBox="1"/>
          <p:nvPr/>
        </p:nvSpPr>
        <p:spPr>
          <a:xfrm>
            <a:off x="983949" y="2500972"/>
            <a:ext cx="2141504" cy="2145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 dirty="0">
                <a:solidFill>
                  <a:srgbClr val="F7B40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CTDL &amp; </a:t>
            </a:r>
            <a:r>
              <a:rPr lang="en-US" sz="1600" b="1" i="0" u="none" strike="noStrike" cap="none" dirty="0" err="1">
                <a:solidFill>
                  <a:srgbClr val="F7B40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Giải</a:t>
            </a:r>
            <a:r>
              <a:rPr lang="en-US" sz="1600" b="1" i="0" u="none" strike="noStrike" cap="none" dirty="0">
                <a:solidFill>
                  <a:srgbClr val="F7B40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600" b="1" i="0" u="none" strike="noStrike" cap="none" dirty="0" err="1">
                <a:solidFill>
                  <a:srgbClr val="F7B40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Thuật</a:t>
            </a:r>
            <a:endParaRPr sz="1400" b="1" i="0" u="none" strike="noStrike" cap="none" dirty="0">
              <a:solidFill>
                <a:srgbClr val="F7B40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Mảng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đối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tượng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+ Binary Search O(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logN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để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tối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ưu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tốc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độ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cứu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bài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hát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14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" name="Google Shape;214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43576" y="1179957"/>
            <a:ext cx="2552700" cy="375245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4"/>
          <p:cNvSpPr txBox="1"/>
          <p:nvPr/>
        </p:nvSpPr>
        <p:spPr>
          <a:xfrm>
            <a:off x="3705484" y="2505608"/>
            <a:ext cx="2141504" cy="24314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7B40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Nghiệp Vụ CRUD</a:t>
            </a:r>
            <a:endParaRPr sz="1600" b="1" i="0" u="none" strike="noStrike" cap="none">
              <a:solidFill>
                <a:srgbClr val="F7B40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>
              <a:solidFill>
                <a:srgbClr val="F7B40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Thêm, Xóa bài hát, xóa toàn playlist, tìm kiếm và hiển thị danh sách.</a:t>
            </a:r>
            <a:endParaRPr sz="1400" b="0" i="0" u="none" strike="noStrike" cap="none">
              <a:solidFill>
                <a:srgbClr val="CBD5E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20" name="Google Shape;220;p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44476" y="1579142"/>
            <a:ext cx="342900" cy="46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45111" y="1179957"/>
            <a:ext cx="2552700" cy="375245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"/>
          <p:cNvSpPr txBox="1"/>
          <p:nvPr/>
        </p:nvSpPr>
        <p:spPr>
          <a:xfrm>
            <a:off x="6507019" y="2505608"/>
            <a:ext cx="2141504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7B40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Thuật Toán Tối Ưu</a:t>
            </a:r>
            <a:endParaRPr sz="1600" b="1" i="0" u="none" strike="noStrike" cap="none">
              <a:solidFill>
                <a:srgbClr val="F7B40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>
              <a:solidFill>
                <a:srgbClr val="F7B40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Sắp xếp tự động theo ABC + Tìm kiếm nhị phân, thống kê tần suất tra cứu.</a:t>
            </a:r>
            <a:endParaRPr/>
          </a:p>
        </p:txBody>
      </p:sp>
      <p:pic>
        <p:nvPicPr>
          <p:cNvPr id="223" name="Google Shape;223;p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292461" y="1606924"/>
            <a:ext cx="457200" cy="46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06646" y="1179957"/>
            <a:ext cx="2552700" cy="375245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4"/>
          <p:cNvSpPr txBox="1"/>
          <p:nvPr/>
        </p:nvSpPr>
        <p:spPr>
          <a:xfrm>
            <a:off x="9200616" y="2500972"/>
            <a:ext cx="2269343" cy="24314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 dirty="0">
                <a:solidFill>
                  <a:srgbClr val="F7B40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Phi </a:t>
            </a:r>
            <a:r>
              <a:rPr lang="en-US" sz="1600" b="1" i="0" u="none" strike="noStrike" cap="none" dirty="0" err="1">
                <a:solidFill>
                  <a:srgbClr val="F7B40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Chức</a:t>
            </a:r>
            <a:r>
              <a:rPr lang="en-US" sz="1600" b="1" i="0" u="none" strike="noStrike" cap="none" dirty="0">
                <a:solidFill>
                  <a:srgbClr val="F7B40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600" b="1" i="0" u="none" strike="noStrike" cap="none" dirty="0" err="1">
                <a:solidFill>
                  <a:srgbClr val="F7B40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Năng</a:t>
            </a:r>
            <a:endParaRPr sz="1600" b="1" i="0" u="none" strike="noStrike" cap="none" dirty="0">
              <a:solidFill>
                <a:srgbClr val="F7B40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 dirty="0">
              <a:solidFill>
                <a:srgbClr val="F7B40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Lưu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trữ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bền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bỉ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qua file TXT,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hỗ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trợ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Tiếng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Việt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chuẩn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hóa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IN HOA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và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bắt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lỗi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định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4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dạng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dirty="0"/>
          </a:p>
        </p:txBody>
      </p:sp>
      <p:pic>
        <p:nvPicPr>
          <p:cNvPr id="226" name="Google Shape;226;p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054396" y="1606924"/>
            <a:ext cx="457200" cy="466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"/>
          <p:cNvSpPr txBox="1">
            <a:spLocks noGrp="1"/>
          </p:cNvSpPr>
          <p:nvPr>
            <p:ph type="title"/>
          </p:nvPr>
        </p:nvSpPr>
        <p:spPr>
          <a:xfrm>
            <a:off x="13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300" rIns="91425" bIns="453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 b="1">
                <a:latin typeface="Times New Roman"/>
                <a:ea typeface="Times New Roman"/>
                <a:cs typeface="Times New Roman"/>
                <a:sym typeface="Times New Roman"/>
              </a:rPr>
              <a:t>Phạm Vi &amp; Phương Pháp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4" name="Google Shape;204;p6"/>
          <p:cNvSpPr txBox="1">
            <a:spLocks noGrp="1"/>
          </p:cNvSpPr>
          <p:nvPr>
            <p:ph type="body" idx="1"/>
          </p:nvPr>
        </p:nvSpPr>
        <p:spPr>
          <a:xfrm>
            <a:off x="122350" y="1034335"/>
            <a:ext cx="1193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300" rIns="91425" bIns="45300" anchor="t" anchorCtr="0">
            <a:normAutofit lnSpcReduction="10000"/>
          </a:bodyPr>
          <a:lstStyle/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543"/>
              <a:buNone/>
            </a:pPr>
            <a:r>
              <a:rPr lang="en-US" sz="2400" b="1" dirty="0" err="1">
                <a:latin typeface="Times New Roman"/>
                <a:ea typeface="Times New Roman"/>
                <a:cs typeface="Times New Roman"/>
                <a:sym typeface="Times New Roman"/>
              </a:rPr>
              <a:t>Phạm</a:t>
            </a:r>
            <a:r>
              <a:rPr lang="en-US" sz="2400" b="1" dirty="0">
                <a:latin typeface="Times New Roman"/>
                <a:ea typeface="Times New Roman"/>
                <a:cs typeface="Times New Roman"/>
                <a:sym typeface="Times New Roman"/>
              </a:rPr>
              <a:t> Vi </a:t>
            </a:r>
            <a:r>
              <a:rPr lang="en-US" sz="2400" b="1" dirty="0" err="1">
                <a:latin typeface="Times New Roman"/>
                <a:ea typeface="Times New Roman"/>
                <a:cs typeface="Times New Roman"/>
                <a:sym typeface="Times New Roman"/>
              </a:rPr>
              <a:t>Dự</a:t>
            </a:r>
            <a:r>
              <a:rPr lang="en-US" sz="24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 err="1">
                <a:latin typeface="Times New Roman"/>
                <a:ea typeface="Times New Roman"/>
                <a:cs typeface="Times New Roman"/>
                <a:sym typeface="Times New Roman"/>
              </a:rPr>
              <a:t>Án</a:t>
            </a:r>
            <a:endParaRPr sz="2400" b="1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3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Loại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ứng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dụng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Ứng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dụng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Console Python,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chạy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trên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mọi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hệ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điều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hành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hỗ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trợ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Python 3.11.</a:t>
            </a:r>
            <a:endParaRPr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3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Lưu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trữ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Dùng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file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phẳng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playlist.txt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để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đọc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/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ghi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dữ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liệu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bền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bỉ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khi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khởi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động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/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tắt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chương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trình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dirty="0"/>
          </a:p>
          <a:p>
            <a:pPr marL="453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Phạm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vi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nghiệp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vụ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Quản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lý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danh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sách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phát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Thêm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Xóa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Tìm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kiếm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Thống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kê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bài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hát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theo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tần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suất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543"/>
              <a:buNone/>
            </a:pPr>
            <a:r>
              <a:rPr lang="en-US" sz="2400" b="1" dirty="0" err="1">
                <a:latin typeface="Times New Roman"/>
                <a:ea typeface="Times New Roman"/>
                <a:cs typeface="Times New Roman"/>
                <a:sym typeface="Times New Roman"/>
              </a:rPr>
              <a:t>Phương</a:t>
            </a:r>
            <a:r>
              <a:rPr lang="en-US" sz="24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 err="1">
                <a:latin typeface="Times New Roman"/>
                <a:ea typeface="Times New Roman"/>
                <a:cs typeface="Times New Roman"/>
                <a:sym typeface="Times New Roman"/>
              </a:rPr>
              <a:t>Pháp</a:t>
            </a:r>
            <a:r>
              <a:rPr lang="en-US" sz="24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 err="1">
                <a:latin typeface="Times New Roman"/>
                <a:ea typeface="Times New Roman"/>
                <a:cs typeface="Times New Roman"/>
                <a:sym typeface="Times New Roman"/>
              </a:rPr>
              <a:t>Thực</a:t>
            </a:r>
            <a:r>
              <a:rPr lang="en-US" sz="24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 err="1">
                <a:latin typeface="Times New Roman"/>
                <a:ea typeface="Times New Roman"/>
                <a:cs typeface="Times New Roman"/>
                <a:sym typeface="Times New Roman"/>
              </a:rPr>
              <a:t>Hiện</a:t>
            </a:r>
            <a:endParaRPr sz="2400" b="1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3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Phân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tích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yêu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cầu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Phân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tích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chức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năng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(CRUD,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tìm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kiếm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và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phi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chức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năng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lưu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trữ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, in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hoa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bắt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lỗi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  <a:endParaRPr dirty="0"/>
          </a:p>
          <a:p>
            <a:pPr marL="453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Thiết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kế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giải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thuật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Xây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dựng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CTDL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mảng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đối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tượng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giải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thuật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sắp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xếp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và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Tìm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kiếm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nhị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phân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dirty="0"/>
          </a:p>
          <a:p>
            <a:pPr marL="453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Triển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khai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Cài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đặt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toàn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bộ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module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bằng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ngôn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ngữ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Python.</a:t>
            </a:r>
            <a:endParaRPr dirty="0"/>
          </a:p>
          <a:p>
            <a:pPr marL="453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Kiểm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thử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Thực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nghiệm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trực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tiếp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trên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Console,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kiểm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tra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các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kịch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bản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nhập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liệu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b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endParaRPr sz="2400" b="1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5" name="Google Shape;205;p6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3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300" rIns="91425" bIns="453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3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6" name="Google Shape;206;p6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300" rIns="91425" bIns="453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Chi tiết dự án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"/>
          <p:cNvSpPr txBox="1">
            <a:spLocks noGrp="1"/>
          </p:cNvSpPr>
          <p:nvPr>
            <p:ph type="title"/>
          </p:nvPr>
        </p:nvSpPr>
        <p:spPr>
          <a:xfrm>
            <a:off x="15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500" rIns="91425" bIns="455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 b="1">
                <a:latin typeface="Times New Roman"/>
                <a:ea typeface="Times New Roman"/>
                <a:cs typeface="Times New Roman"/>
                <a:sym typeface="Times New Roman"/>
              </a:rPr>
              <a:t>Khảo Sát &amp; Yêu Cầu Hệ Thống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4" name="Google Shape;204;p6"/>
          <p:cNvSpPr txBox="1">
            <a:spLocks noGrp="1"/>
          </p:cNvSpPr>
          <p:nvPr>
            <p:ph type="body" idx="1"/>
          </p:nvPr>
        </p:nvSpPr>
        <p:spPr>
          <a:xfrm>
            <a:off x="122350" y="1054555"/>
            <a:ext cx="1195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500" rIns="91425" bIns="45500" anchor="t" anchorCtr="0">
            <a:normAutofit lnSpcReduction="10000"/>
          </a:bodyPr>
          <a:lstStyle/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543"/>
              <a:buNone/>
            </a:pPr>
            <a:r>
              <a:rPr lang="en-US" sz="2400" b="1">
                <a:latin typeface="Times New Roman"/>
                <a:ea typeface="Times New Roman"/>
                <a:cs typeface="Times New Roman"/>
                <a:sym typeface="Times New Roman"/>
              </a:rPr>
              <a:t>Yêu Cầu Chức Năng</a:t>
            </a:r>
            <a:endParaRPr sz="2400"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5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>
                <a:latin typeface="Times New Roman"/>
                <a:ea typeface="Times New Roman"/>
                <a:cs typeface="Times New Roman"/>
                <a:sym typeface="Times New Roman"/>
              </a:rPr>
              <a:t>CTDL &amp; Giải thuật:</a:t>
            </a:r>
            <a:r>
              <a:rPr lang="en-US" sz="1900">
                <a:latin typeface="Times New Roman"/>
                <a:ea typeface="Times New Roman"/>
                <a:cs typeface="Times New Roman"/>
                <a:sym typeface="Times New Roman"/>
              </a:rPr>
              <a:t> Danh sách đối tượng + Binary Search, tối ưu thời gian tra cứu.</a:t>
            </a:r>
            <a:endParaRPr sz="19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5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>
                <a:latin typeface="Times New Roman"/>
                <a:ea typeface="Times New Roman"/>
                <a:cs typeface="Times New Roman"/>
                <a:sym typeface="Times New Roman"/>
              </a:rPr>
              <a:t>CRUD:</a:t>
            </a:r>
            <a:r>
              <a:rPr lang="en-US" sz="1900">
                <a:latin typeface="Times New Roman"/>
                <a:ea typeface="Times New Roman"/>
                <a:cs typeface="Times New Roman"/>
                <a:sym typeface="Times New Roman"/>
              </a:rPr>
              <a:t> Thêm, Xóa một/toàn bộ bài hát, Tìm kiếm theo tên bài hát.</a:t>
            </a:r>
            <a:endParaRPr/>
          </a:p>
          <a:p>
            <a:pPr marL="455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>
                <a:latin typeface="Times New Roman"/>
                <a:ea typeface="Times New Roman"/>
                <a:cs typeface="Times New Roman"/>
                <a:sym typeface="Times New Roman"/>
              </a:rPr>
              <a:t>Thuật toán:</a:t>
            </a:r>
            <a:r>
              <a:rPr lang="en-US" sz="1900">
                <a:latin typeface="Times New Roman"/>
                <a:ea typeface="Times New Roman"/>
                <a:cs typeface="Times New Roman"/>
                <a:sym typeface="Times New Roman"/>
              </a:rPr>
              <a:t> Sắp xếp tự động ABC, Tìm kiếm nhị phân O(logN), thống kê tần suất.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543"/>
              <a:buNone/>
            </a:pPr>
            <a:r>
              <a:rPr lang="en-US" sz="2400" b="1">
                <a:latin typeface="Times New Roman"/>
                <a:ea typeface="Times New Roman"/>
                <a:cs typeface="Times New Roman"/>
                <a:sym typeface="Times New Roman"/>
              </a:rPr>
              <a:t>Yêu Cầu Phi Chức Năng</a:t>
            </a:r>
            <a:endParaRPr sz="2400"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5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>
                <a:latin typeface="Times New Roman"/>
                <a:ea typeface="Times New Roman"/>
                <a:cs typeface="Times New Roman"/>
                <a:sym typeface="Times New Roman"/>
              </a:rPr>
              <a:t>Chuẩn hóa dữ liệu:</a:t>
            </a:r>
            <a:r>
              <a:rPr lang="en-US" sz="1900">
                <a:latin typeface="Times New Roman"/>
                <a:ea typeface="Times New Roman"/>
                <a:cs typeface="Times New Roman"/>
                <a:sym typeface="Times New Roman"/>
              </a:rPr>
              <a:t> Tự động chuyển IN HOA toàn bộ đầu vào và đầu ra.</a:t>
            </a:r>
            <a:endParaRPr/>
          </a:p>
          <a:p>
            <a:pPr marL="455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>
                <a:latin typeface="Times New Roman"/>
                <a:ea typeface="Times New Roman"/>
                <a:cs typeface="Times New Roman"/>
                <a:sym typeface="Times New Roman"/>
              </a:rPr>
              <a:t>Lưu trữ bền bỉ:</a:t>
            </a:r>
            <a:r>
              <a:rPr lang="en-US" sz="1900">
                <a:latin typeface="Times New Roman"/>
                <a:ea typeface="Times New Roman"/>
                <a:cs typeface="Times New Roman"/>
                <a:sym typeface="Times New Roman"/>
              </a:rPr>
              <a:t> Tự động đọc/ghi file playlist.txt khi khởi động &amp; thay đổi.</a:t>
            </a:r>
            <a:endParaRPr/>
          </a:p>
          <a:p>
            <a:pPr marL="455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>
                <a:latin typeface="Times New Roman"/>
                <a:ea typeface="Times New Roman"/>
                <a:cs typeface="Times New Roman"/>
                <a:sym typeface="Times New Roman"/>
              </a:rPr>
              <a:t>Trải nghiệm người dùng:</a:t>
            </a:r>
            <a:r>
              <a:rPr lang="en-US" sz="1900">
                <a:latin typeface="Times New Roman"/>
                <a:ea typeface="Times New Roman"/>
                <a:cs typeface="Times New Roman"/>
                <a:sym typeface="Times New Roman"/>
              </a:rPr>
              <a:t> Menu số trực quan, bắt lỗi định dạng thời lượng mm:ss.</a:t>
            </a:r>
            <a:endParaRPr/>
          </a:p>
          <a:p>
            <a:pPr marL="455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>
                <a:latin typeface="Times New Roman"/>
                <a:ea typeface="Times New Roman"/>
                <a:cs typeface="Times New Roman"/>
                <a:sym typeface="Times New Roman"/>
              </a:rPr>
              <a:t>Hỗ trợ Tiếng Việt:</a:t>
            </a:r>
            <a:r>
              <a:rPr lang="en-US" sz="1900">
                <a:latin typeface="Times New Roman"/>
                <a:ea typeface="Times New Roman"/>
                <a:cs typeface="Times New Roman"/>
                <a:sym typeface="Times New Roman"/>
              </a:rPr>
              <a:t> Hiển thị và nhập đầy đủ ký tự Tiếng Việt có dấu.</a:t>
            </a:r>
            <a:b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</a:br>
            <a:endParaRPr sz="2400"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5" name="Google Shape;205;p6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5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500" rIns="91425" bIns="455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5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6" name="Google Shape;206;p6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500" rIns="91425" bIns="455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Chi tiết yêu cầu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"/>
          <p:cNvSpPr txBox="1">
            <a:spLocks noGrp="1"/>
          </p:cNvSpPr>
          <p:nvPr>
            <p:ph type="title"/>
          </p:nvPr>
        </p:nvSpPr>
        <p:spPr>
          <a:xfrm>
            <a:off x="176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 b="1">
                <a:latin typeface="Times New Roman"/>
                <a:ea typeface="Times New Roman"/>
                <a:cs typeface="Times New Roman"/>
                <a:sym typeface="Times New Roman"/>
              </a:rPr>
              <a:t>Kiến Trúc Hệ Thống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3" name="Google Shape;213;p4"/>
          <p:cNvSpPr txBox="1">
            <a:spLocks noGrp="1"/>
          </p:cNvSpPr>
          <p:nvPr>
            <p:ph type="sldNum" idx="12"/>
          </p:nvPr>
        </p:nvSpPr>
        <p:spPr>
          <a:xfrm>
            <a:off x="9296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6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4" name="Google Shape;214;p4"/>
          <p:cNvSpPr txBox="1">
            <a:spLocks noGrp="1"/>
          </p:cNvSpPr>
          <p:nvPr>
            <p:ph type="title" idx="2"/>
          </p:nvPr>
        </p:nvSpPr>
        <p:spPr>
          <a:xfrm>
            <a:off x="2305500" y="496650"/>
            <a:ext cx="6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Quản Lý Bài Hát Trong Playlist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15" name="Google Shape;215;p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22041" y="1179957"/>
            <a:ext cx="2552700" cy="3752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72124" y="1579161"/>
            <a:ext cx="400050" cy="466725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4"/>
          <p:cNvSpPr txBox="1"/>
          <p:nvPr/>
        </p:nvSpPr>
        <p:spPr>
          <a:xfrm>
            <a:off x="927637" y="2122607"/>
            <a:ext cx="2141506" cy="2165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 dirty="0">
                <a:solidFill>
                  <a:srgbClr val="F7B60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Module 1: CTDL</a:t>
            </a:r>
            <a:endParaRPr sz="1400" b="1" i="0" u="none" strike="noStrike" cap="none" dirty="0">
              <a:solidFill>
                <a:srgbClr val="F7B60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Định</a:t>
            </a:r>
            <a:r>
              <a:rPr lang="en-US" sz="16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6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nghĩa</a:t>
            </a:r>
            <a:r>
              <a:rPr lang="en-US" sz="16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6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lớp</a:t>
            </a:r>
            <a:r>
              <a:rPr lang="en-US" sz="16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Playlist: </a:t>
            </a:r>
            <a:r>
              <a:rPr lang="en-US" sz="16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Songname</a:t>
            </a:r>
            <a:r>
              <a:rPr lang="en-US" sz="16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artist, type, time, </a:t>
            </a:r>
            <a:r>
              <a:rPr lang="en-US" sz="16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tần</a:t>
            </a:r>
            <a:r>
              <a:rPr lang="en-US" sz="16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600" b="0" i="0" u="none" strike="noStrike" cap="none" dirty="0" err="1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suất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14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" name="Google Shape;216;p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463576" y="1179957"/>
            <a:ext cx="2552700" cy="375265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4"/>
          <p:cNvSpPr txBox="1"/>
          <p:nvPr/>
        </p:nvSpPr>
        <p:spPr>
          <a:xfrm>
            <a:off x="3669172" y="2127243"/>
            <a:ext cx="2141506" cy="24314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7B60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Module 2: Giải Thuật</a:t>
            </a:r>
            <a:endParaRPr sz="1600" b="1" i="0" u="none" strike="noStrike" cap="none">
              <a:solidFill>
                <a:srgbClr val="F7B60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>
              <a:solidFill>
                <a:srgbClr val="F7B60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Sắp xếp ABC, Binary Search O(logN), CRUD, thống kê tần suất.</a:t>
            </a:r>
            <a:endParaRPr sz="1600" b="0" i="0" u="none" strike="noStrike" cap="none">
              <a:solidFill>
                <a:srgbClr val="CBD5E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20" name="Google Shape;220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66476" y="1579162"/>
            <a:ext cx="342900" cy="46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45111" y="1179957"/>
            <a:ext cx="2552700" cy="375265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"/>
          <p:cNvSpPr txBox="1"/>
          <p:nvPr/>
        </p:nvSpPr>
        <p:spPr>
          <a:xfrm>
            <a:off x="6450707" y="2127243"/>
            <a:ext cx="2141506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7B60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Module 3: Giao Diện</a:t>
            </a:r>
            <a:endParaRPr sz="1600" b="1" i="0" u="none" strike="noStrike" cap="none">
              <a:solidFill>
                <a:srgbClr val="F7B60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>
              <a:solidFill>
                <a:srgbClr val="F7B60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Vòng lặp menu 1-5, nhập/xuất Console, bắt lỗi, lưu file TXT.</a:t>
            </a:r>
            <a:endParaRPr/>
          </a:p>
        </p:txBody>
      </p:sp>
      <p:pic>
        <p:nvPicPr>
          <p:cNvPr id="223" name="Google Shape;223;p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92661" y="1606924"/>
            <a:ext cx="457200" cy="46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006646" y="1179957"/>
            <a:ext cx="2552700" cy="375265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4"/>
          <p:cNvSpPr txBox="1"/>
          <p:nvPr/>
        </p:nvSpPr>
        <p:spPr>
          <a:xfrm>
            <a:off x="9146304" y="2122607"/>
            <a:ext cx="2269363" cy="24314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7B60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Lưu Trữ Dữ Liệu</a:t>
            </a:r>
            <a:endParaRPr sz="1600" b="1" i="0" u="none" strike="noStrike" cap="none">
              <a:solidFill>
                <a:srgbClr val="F7B60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>
              <a:solidFill>
                <a:srgbClr val="F7B60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File playlist.txt: Đọc khi khởi động, ghi sau mỗi thao tác CRUD.</a:t>
            </a:r>
            <a:endParaRPr/>
          </a:p>
        </p:txBody>
      </p:sp>
      <p:pic>
        <p:nvPicPr>
          <p:cNvPr id="226" name="Google Shape;226;p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054396" y="1606924"/>
            <a:ext cx="457200" cy="466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7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7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 b="1">
                <a:latin typeface="Times New Roman"/>
                <a:ea typeface="Times New Roman"/>
                <a:cs typeface="Times New Roman"/>
                <a:sym typeface="Times New Roman"/>
              </a:rPr>
              <a:t>Thiết Kế Lưu Đồ Hệ Thống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47" name="Google Shape;247;p7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7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48" name="Google Shape;248;p7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Quy trình xử lý chức năng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"/>
          <p:cNvSpPr txBox="1">
            <a:spLocks noGrp="1"/>
          </p:cNvSpPr>
          <p:nvPr>
            <p:ph type="title"/>
          </p:nvPr>
        </p:nvSpPr>
        <p:spPr>
          <a:xfrm>
            <a:off x="18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800" rIns="91425" bIns="458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 b="1">
                <a:latin typeface="Times New Roman"/>
                <a:ea typeface="Times New Roman"/>
                <a:cs typeface="Times New Roman"/>
                <a:sym typeface="Times New Roman"/>
              </a:rPr>
              <a:t>Biện Luận CTDL &amp; Thuật Toán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4" name="Google Shape;204;p6"/>
          <p:cNvSpPr txBox="1">
            <a:spLocks noGrp="1"/>
          </p:cNvSpPr>
          <p:nvPr>
            <p:ph type="body" idx="1"/>
          </p:nvPr>
        </p:nvSpPr>
        <p:spPr>
          <a:xfrm>
            <a:off x="122350" y="1084885"/>
            <a:ext cx="1198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800" rIns="91425" bIns="45800" anchor="t" anchorCtr="0">
            <a:normAutofit lnSpcReduction="10000"/>
          </a:bodyPr>
          <a:lstStyle/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543"/>
              <a:buNone/>
            </a:pPr>
            <a:r>
              <a:rPr lang="en-US" sz="2400" b="1" dirty="0" err="1">
                <a:latin typeface="Times New Roman"/>
                <a:ea typeface="Times New Roman"/>
                <a:cs typeface="Times New Roman"/>
                <a:sym typeface="Times New Roman"/>
              </a:rPr>
              <a:t>Giải</a:t>
            </a:r>
            <a:r>
              <a:rPr lang="en-US" sz="24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 err="1">
                <a:latin typeface="Times New Roman"/>
                <a:ea typeface="Times New Roman"/>
                <a:cs typeface="Times New Roman"/>
                <a:sym typeface="Times New Roman"/>
              </a:rPr>
              <a:t>Pháp</a:t>
            </a:r>
            <a:r>
              <a:rPr lang="en-US" sz="2400" b="1" dirty="0">
                <a:latin typeface="Times New Roman"/>
                <a:ea typeface="Times New Roman"/>
                <a:cs typeface="Times New Roman"/>
                <a:sym typeface="Times New Roman"/>
              </a:rPr>
              <a:t> 1: </a:t>
            </a:r>
            <a:r>
              <a:rPr lang="en-US" sz="2400" b="1" dirty="0" err="1">
                <a:latin typeface="Times New Roman"/>
                <a:ea typeface="Times New Roman"/>
                <a:cs typeface="Times New Roman"/>
                <a:sym typeface="Times New Roman"/>
              </a:rPr>
              <a:t>Duyệt</a:t>
            </a:r>
            <a:r>
              <a:rPr lang="en-US" sz="24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 err="1">
                <a:latin typeface="Times New Roman"/>
                <a:ea typeface="Times New Roman"/>
                <a:cs typeface="Times New Roman"/>
                <a:sym typeface="Times New Roman"/>
              </a:rPr>
              <a:t>Tuần</a:t>
            </a:r>
            <a:r>
              <a:rPr lang="en-US" sz="24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 err="1">
                <a:latin typeface="Times New Roman"/>
                <a:ea typeface="Times New Roman"/>
                <a:cs typeface="Times New Roman"/>
                <a:sym typeface="Times New Roman"/>
              </a:rPr>
              <a:t>Tự</a:t>
            </a:r>
            <a:r>
              <a:rPr lang="en-US" sz="2400" b="1" dirty="0">
                <a:latin typeface="Times New Roman"/>
                <a:ea typeface="Times New Roman"/>
                <a:cs typeface="Times New Roman"/>
                <a:sym typeface="Times New Roman"/>
              </a:rPr>
              <a:t> O(N)</a:t>
            </a:r>
            <a:endParaRPr sz="2400" b="1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8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Cấu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trúc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dữ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liệu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Danh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sách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liên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kết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/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mảng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động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không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có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thứ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tự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8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Giải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thuật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Linear Search –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duyệt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từ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đầu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đến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cuối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danh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sách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dirty="0"/>
          </a:p>
          <a:p>
            <a:pPr marL="458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Nhược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điểm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Tối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đa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N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lần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so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sánh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→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Không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đáp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ứng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khi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playlist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lớn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543"/>
              <a:buNone/>
            </a:pPr>
            <a:r>
              <a:rPr lang="en-US" sz="2400" b="1" dirty="0" err="1">
                <a:latin typeface="Times New Roman"/>
                <a:ea typeface="Times New Roman"/>
                <a:cs typeface="Times New Roman"/>
                <a:sym typeface="Times New Roman"/>
              </a:rPr>
              <a:t>Giải</a:t>
            </a:r>
            <a:r>
              <a:rPr lang="en-US" sz="24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 err="1">
                <a:latin typeface="Times New Roman"/>
                <a:ea typeface="Times New Roman"/>
                <a:cs typeface="Times New Roman"/>
                <a:sym typeface="Times New Roman"/>
              </a:rPr>
              <a:t>Pháp</a:t>
            </a:r>
            <a:r>
              <a:rPr lang="en-US" sz="2400" b="1" dirty="0">
                <a:latin typeface="Times New Roman"/>
                <a:ea typeface="Times New Roman"/>
                <a:cs typeface="Times New Roman"/>
                <a:sym typeface="Times New Roman"/>
              </a:rPr>
              <a:t> 2: </a:t>
            </a:r>
            <a:r>
              <a:rPr lang="en-US" sz="2400" b="1" dirty="0" err="1">
                <a:latin typeface="Times New Roman"/>
                <a:ea typeface="Times New Roman"/>
                <a:cs typeface="Times New Roman"/>
                <a:sym typeface="Times New Roman"/>
              </a:rPr>
              <a:t>Tìm</a:t>
            </a:r>
            <a:r>
              <a:rPr lang="en-US" sz="24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 err="1">
                <a:latin typeface="Times New Roman"/>
                <a:ea typeface="Times New Roman"/>
                <a:cs typeface="Times New Roman"/>
                <a:sym typeface="Times New Roman"/>
              </a:rPr>
              <a:t>Kiếm</a:t>
            </a:r>
            <a:r>
              <a:rPr lang="en-US" sz="24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 err="1">
                <a:latin typeface="Times New Roman"/>
                <a:ea typeface="Times New Roman"/>
                <a:cs typeface="Times New Roman"/>
                <a:sym typeface="Times New Roman"/>
              </a:rPr>
              <a:t>Nhị</a:t>
            </a:r>
            <a:r>
              <a:rPr lang="en-US" sz="24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 err="1">
                <a:latin typeface="Times New Roman"/>
                <a:ea typeface="Times New Roman"/>
                <a:cs typeface="Times New Roman"/>
                <a:sym typeface="Times New Roman"/>
              </a:rPr>
              <a:t>Phân</a:t>
            </a:r>
            <a:r>
              <a:rPr lang="en-US" sz="2400" b="1" dirty="0">
                <a:latin typeface="Times New Roman"/>
                <a:ea typeface="Times New Roman"/>
                <a:cs typeface="Times New Roman"/>
                <a:sym typeface="Times New Roman"/>
              </a:rPr>
              <a:t> O(</a:t>
            </a:r>
            <a:r>
              <a:rPr lang="en-US" sz="2400" b="1" dirty="0" err="1">
                <a:latin typeface="Times New Roman"/>
                <a:ea typeface="Times New Roman"/>
                <a:cs typeface="Times New Roman"/>
                <a:sym typeface="Times New Roman"/>
              </a:rPr>
              <a:t>logN</a:t>
            </a:r>
            <a:r>
              <a:rPr lang="en-US" sz="2400" b="1" dirty="0">
                <a:latin typeface="Times New Roman"/>
                <a:ea typeface="Times New Roman"/>
                <a:cs typeface="Times New Roman"/>
                <a:sym typeface="Times New Roman"/>
              </a:rPr>
              <a:t>) ✓</a:t>
            </a:r>
            <a:endParaRPr sz="2400" b="1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8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Cấu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trúc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dữ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liệu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Mảng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đối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tượng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luôn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duy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trì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sắp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xếp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tăng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dần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theo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tên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dirty="0"/>
          </a:p>
          <a:p>
            <a:pPr marL="458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Giải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thuật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Binary Search –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thu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hẹp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phạm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vi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xuống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1/2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mỗi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bước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dirty="0"/>
          </a:p>
          <a:p>
            <a:pPr marL="458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Hiệu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năng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10.000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bài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→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tối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đa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14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lần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so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sánh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(log₂10000 ≈ 14).</a:t>
            </a:r>
            <a:endParaRPr dirty="0"/>
          </a:p>
          <a:p>
            <a:pPr marL="458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Đánh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b="1" dirty="0" err="1">
                <a:latin typeface="Times New Roman"/>
                <a:ea typeface="Times New Roman"/>
                <a:cs typeface="Times New Roman"/>
                <a:sym typeface="Times New Roman"/>
              </a:rPr>
              <a:t>đổi</a:t>
            </a:r>
            <a:r>
              <a:rPr lang="en-US" sz="1900" b="1" dirty="0"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Thêm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bài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tốn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thêm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chi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phí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sắp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xếp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nhưng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tra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cứu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cực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00" dirty="0" err="1">
                <a:latin typeface="Times New Roman"/>
                <a:ea typeface="Times New Roman"/>
                <a:cs typeface="Times New Roman"/>
                <a:sym typeface="Times New Roman"/>
              </a:rPr>
              <a:t>nhanh</a:t>
            </a: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b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endParaRPr sz="2400" b="1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5" name="Google Shape;205;p6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8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800" rIns="91425" bIns="458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8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6" name="Google Shape;206;p6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800" rIns="91425" bIns="458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Chi tiết thiết kế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"/>
          <p:cNvSpPr txBox="1">
            <a:spLocks noGrp="1"/>
          </p:cNvSpPr>
          <p:nvPr>
            <p:ph type="title"/>
          </p:nvPr>
        </p:nvSpPr>
        <p:spPr>
          <a:xfrm>
            <a:off x="19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900" rIns="91425" bIns="459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 b="1">
                <a:latin typeface="Times New Roman"/>
                <a:ea typeface="Times New Roman"/>
                <a:cs typeface="Times New Roman"/>
                <a:sym typeface="Times New Roman"/>
              </a:rPr>
              <a:t>Công Cụ &amp; Tiến Độ Thực Hiện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4" name="Google Shape;204;p6"/>
          <p:cNvSpPr txBox="1">
            <a:spLocks noGrp="1"/>
          </p:cNvSpPr>
          <p:nvPr>
            <p:ph type="body" idx="1"/>
          </p:nvPr>
        </p:nvSpPr>
        <p:spPr>
          <a:xfrm>
            <a:off x="122350" y="1094995"/>
            <a:ext cx="1199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900" rIns="91425" bIns="45900" anchor="t" anchorCtr="0">
            <a:normAutofit lnSpcReduction="10000"/>
          </a:bodyPr>
          <a:lstStyle/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543"/>
              <a:buNone/>
            </a:pPr>
            <a:r>
              <a:rPr lang="en-US" sz="2400" b="1">
                <a:latin typeface="Times New Roman"/>
                <a:ea typeface="Times New Roman"/>
                <a:cs typeface="Times New Roman"/>
                <a:sym typeface="Times New Roman"/>
              </a:rPr>
              <a:t>Môi Trường Phát Triển</a:t>
            </a:r>
            <a:endParaRPr sz="2400"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9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>
                <a:latin typeface="Times New Roman"/>
                <a:ea typeface="Times New Roman"/>
                <a:cs typeface="Times New Roman"/>
                <a:sym typeface="Times New Roman"/>
              </a:rPr>
              <a:t>Ngôn ngữ:</a:t>
            </a:r>
            <a:r>
              <a:rPr lang="en-US" sz="1900">
                <a:latin typeface="Times New Roman"/>
                <a:ea typeface="Times New Roman"/>
                <a:cs typeface="Times New Roman"/>
                <a:sym typeface="Times New Roman"/>
              </a:rPr>
              <a:t> Python 3.11 – CPython Interpreter.</a:t>
            </a:r>
            <a:endParaRPr sz="19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9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>
                <a:latin typeface="Times New Roman"/>
                <a:ea typeface="Times New Roman"/>
                <a:cs typeface="Times New Roman"/>
                <a:sym typeface="Times New Roman"/>
              </a:rPr>
              <a:t>IDE:</a:t>
            </a:r>
            <a:r>
              <a:rPr lang="en-US" sz="1900">
                <a:latin typeface="Times New Roman"/>
                <a:ea typeface="Times New Roman"/>
                <a:cs typeface="Times New Roman"/>
                <a:sym typeface="Times New Roman"/>
              </a:rPr>
              <a:t> Visual Studio Code + Extension Python.</a:t>
            </a:r>
            <a:endParaRPr/>
          </a:p>
          <a:p>
            <a:pPr marL="459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>
                <a:latin typeface="Times New Roman"/>
                <a:ea typeface="Times New Roman"/>
                <a:cs typeface="Times New Roman"/>
                <a:sym typeface="Times New Roman"/>
              </a:rPr>
              <a:t>Phần cứng:</a:t>
            </a:r>
            <a:r>
              <a:rPr lang="en-US" sz="1900">
                <a:latin typeface="Times New Roman"/>
                <a:ea typeface="Times New Roman"/>
                <a:cs typeface="Times New Roman"/>
                <a:sym typeface="Times New Roman"/>
              </a:rPr>
              <a:t> CPU Intel i3+, RAM 4GB+, Lưu trữ file playlist.txt.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543"/>
              <a:buNone/>
            </a:pPr>
            <a:r>
              <a:rPr lang="en-US" sz="2400" b="1">
                <a:latin typeface="Times New Roman"/>
                <a:ea typeface="Times New Roman"/>
                <a:cs typeface="Times New Roman"/>
                <a:sym typeface="Times New Roman"/>
              </a:rPr>
              <a:t>Phân Công Công Việc</a:t>
            </a:r>
            <a:endParaRPr sz="2400"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9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>
                <a:latin typeface="Times New Roman"/>
                <a:ea typeface="Times New Roman"/>
                <a:cs typeface="Times New Roman"/>
                <a:sym typeface="Times New Roman"/>
              </a:rPr>
              <a:t>Trần Quang Huy:</a:t>
            </a:r>
            <a:r>
              <a:rPr lang="en-US" sz="1900">
                <a:latin typeface="Times New Roman"/>
                <a:ea typeface="Times New Roman"/>
                <a:cs typeface="Times New Roman"/>
                <a:sym typeface="Times New Roman"/>
              </a:rPr>
              <a:t> Thiết kế CTDL, cài đặt Binary Search, module thống kê.</a:t>
            </a:r>
            <a:endParaRPr/>
          </a:p>
          <a:p>
            <a:pPr marL="459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>
                <a:latin typeface="Times New Roman"/>
                <a:ea typeface="Times New Roman"/>
                <a:cs typeface="Times New Roman"/>
                <a:sym typeface="Times New Roman"/>
              </a:rPr>
              <a:t>Hoàng Minh Phát:</a:t>
            </a:r>
            <a:r>
              <a:rPr lang="en-US" sz="1900">
                <a:latin typeface="Times New Roman"/>
                <a:ea typeface="Times New Roman"/>
                <a:cs typeface="Times New Roman"/>
                <a:sym typeface="Times New Roman"/>
              </a:rPr>
              <a:t> Cài đặt CRUD, module giao diện Console, lưu trữ file TXT.</a:t>
            </a:r>
            <a:endParaRPr/>
          </a:p>
          <a:p>
            <a:pPr marL="459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>
                <a:latin typeface="Times New Roman"/>
                <a:ea typeface="Times New Roman"/>
                <a:cs typeface="Times New Roman"/>
                <a:sym typeface="Times New Roman"/>
              </a:rPr>
              <a:t>Cả nhóm:</a:t>
            </a:r>
            <a:r>
              <a:rPr lang="en-US" sz="1900">
                <a:latin typeface="Times New Roman"/>
                <a:ea typeface="Times New Roman"/>
                <a:cs typeface="Times New Roman"/>
                <a:sym typeface="Times New Roman"/>
              </a:rPr>
              <a:t> Kiểm thử, viết báo cáo, chuẩn bị slide thuyết trình.</a:t>
            </a:r>
            <a:endParaRPr/>
          </a:p>
          <a:p>
            <a:pPr marL="459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900" b="1">
                <a:latin typeface="Times New Roman"/>
                <a:ea typeface="Times New Roman"/>
                <a:cs typeface="Times New Roman"/>
                <a:sym typeface="Times New Roman"/>
              </a:rPr>
              <a:t>Thời gian:</a:t>
            </a:r>
            <a:r>
              <a:rPr lang="en-US" sz="1900">
                <a:latin typeface="Times New Roman"/>
                <a:ea typeface="Times New Roman"/>
                <a:cs typeface="Times New Roman"/>
                <a:sym typeface="Times New Roman"/>
              </a:rPr>
              <a:t> HK2 – Năm học 2024-2025.</a:t>
            </a:r>
            <a:b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</a:br>
            <a:endParaRPr sz="2400"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5" name="Google Shape;205;p6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9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900" rIns="91425" bIns="459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9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6" name="Google Shape;206;p6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900" rIns="91425" bIns="459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Chi tiết thực hiện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9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rPr lang="en-US" sz="3120" b="1">
                <a:latin typeface="Times New Roman"/>
                <a:ea typeface="Times New Roman"/>
                <a:cs typeface="Times New Roman"/>
                <a:sym typeface="Times New Roman"/>
              </a:rPr>
              <a:t>Kết Quả Thực Hiện</a:t>
            </a:r>
            <a:endParaRPr sz="3120"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39" name="Google Shape;339;p9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10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40" name="Google Shape;340;p9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0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Giao diện &amp; Chức năng đã cài đặt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41" name="Google Shape;341;p9"/>
          <p:cNvSpPr txBox="1">
            <a:spLocks noGrp="1"/>
          </p:cNvSpPr>
          <p:nvPr>
            <p:ph type="body" idx="1"/>
          </p:nvPr>
        </p:nvSpPr>
        <p:spPr>
          <a:xfrm>
            <a:off x="108422" y="813589"/>
            <a:ext cx="10951306" cy="5078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457200" marR="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AutoNum type="arabicPeriod"/>
            </a:pPr>
            <a:r>
              <a:rPr lang="en-US" sz="18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Chức năng 1 – Thêm bài hát:</a:t>
            </a:r>
            <a:endParaRPr sz="18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Nhập số lượng, tên bài, ca sĩ, thể loại, thời lượng (mm:ss).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Kỹ thuật:</a:t>
            </a: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Sử dụng Dictionary (Hash Table) giúp tìm kiếm theo Mã SP đạt tốc độ 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AutoNum type="arabicPeriod" startAt="2"/>
            </a:pPr>
            <a:r>
              <a:rPr lang="en-US" sz="18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Chức năng 2 – Xóa bài hát:</a:t>
            </a:r>
            <a:endParaRPr sz="18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Nhập tên bài hát, hệ thống tự IN HOA và xóa khỏi mảng.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Kỹ thuật:</a:t>
            </a: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Cập nhật ngay file TXT sau khi xóa: </a:t>
            </a:r>
            <a:r>
              <a:rPr lang="en-US" sz="18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Persistence</a:t>
            </a: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đảm bảo dữ liệu không bị mất.</a:t>
            </a:r>
            <a:endParaRPr sz="1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AutoNum type="arabicPeriod" startAt="3"/>
            </a:pPr>
            <a:r>
              <a:rPr lang="en-US" sz="18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Chức năng 4 – Tìm kiếm:</a:t>
            </a:r>
            <a:endParaRPr sz="18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Nhập tên bài hát, kích hoạt Binary Search O(logN).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Kỹ thuật:</a:t>
            </a: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Tự động cộng 1 vào bộ đếm tần suất tra cứu: </a:t>
            </a:r>
            <a:r>
              <a:rPr lang="en-US" sz="18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thống kê</a:t>
            </a: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bài hát được nghe nhiều nhất.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AutoNum type="arabicPeriod" startAt="4"/>
            </a:pPr>
            <a:r>
              <a:rPr lang="en-US" sz="18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Chức năng 3 – Xóa toàn bộ:</a:t>
            </a:r>
            <a:endParaRPr sz="18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Dọn sạch mảng và file TXT, hiển thị thông báo "Deleted!".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AutoNum type="arabicPeriod" startAt="5"/>
            </a:pPr>
            <a:r>
              <a:rPr lang="en-US" sz="18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Chức năng 5 – Thoát:</a:t>
            </a:r>
            <a:endParaRPr sz="18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Lưu toàn bộ trạng thái, in lời chào "Goodbye!" và kết thúc.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37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rPr lang="en-US" sz="3120" b="1">
                <a:latin typeface="Times New Roman"/>
                <a:ea typeface="Times New Roman"/>
                <a:cs typeface="Times New Roman"/>
                <a:sym typeface="Times New Roman"/>
              </a:rPr>
              <a:t>Bảng Kiểm Thử</a:t>
            </a:r>
            <a:endParaRPr sz="3120"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48" name="Google Shape;348;p37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8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49" name="Google Shape;349;p37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Bảng Kiểm Thử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350" name="Google Shape;350;p37"/>
          <p:cNvGraphicFramePr/>
          <p:nvPr/>
        </p:nvGraphicFramePr>
        <p:xfrm>
          <a:off x="1" y="902350"/>
          <a:ext cx="12192000" cy="5955625"/>
        </p:xfrm>
        <a:graphic>
          <a:graphicData uri="http://schemas.openxmlformats.org/drawingml/2006/table">
            <a:tbl>
              <a:tblPr>
                <a:noFill/>
                <a:tableStyleId>{F6145267-B3DB-4557-BC89-240FBBC10655}</a:tableStyleId>
              </a:tblPr>
              <a:tblGrid>
                <a:gridCol w="260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3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7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1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20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52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4995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96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291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STT</a:t>
                      </a:r>
                      <a:endParaRPr sz="1000" b="1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>
                    <a:solidFill>
                      <a:srgbClr val="92929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Module</a:t>
                      </a:r>
                      <a:endParaRPr sz="1000" b="1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>
                    <a:solidFill>
                      <a:srgbClr val="92929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Chức năng</a:t>
                      </a:r>
                      <a:endParaRPr sz="1000" b="1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>
                    <a:solidFill>
                      <a:srgbClr val="92929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Trường hợp kiểm thử (Test Scenario)</a:t>
                      </a:r>
                      <a:endParaRPr sz="1000" b="1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>
                    <a:solidFill>
                      <a:srgbClr val="92929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Dữ liệu nhập (Input)</a:t>
                      </a:r>
                      <a:endParaRPr sz="1000" b="1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>
                    <a:solidFill>
                      <a:srgbClr val="92929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Kết quả mong đợi (Expected Result)</a:t>
                      </a:r>
                      <a:endParaRPr sz="1000" b="1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>
                    <a:solidFill>
                      <a:srgbClr val="92929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Kết quả thực tế trên phần mềm (Actual Result)</a:t>
                      </a:r>
                      <a:endParaRPr sz="1000" b="1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>
                    <a:solidFill>
                      <a:srgbClr val="92929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Trạng thái (Status)</a:t>
                      </a:r>
                      <a:endParaRPr sz="1000" b="1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>
                    <a:solidFill>
                      <a:srgbClr val="9292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7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Hệ thống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Playlist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Thêm bài hát tên trống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"KHONG CO BAI NAY" (Rỗng)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Báo lỗi, yêu cầu nhập lại.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Hiển thị thông báo lỗi, không thêm vào danh sách.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Pass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7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Hệ thống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Playlist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Thêm bài hát sai định dạng thời gian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"user_fake"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Báo lỗi định dạng mm:ss, yêu cầu nhập lại.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Hiển thị thông báo lỗi, không thêm vào danh sách.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Pass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91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Hệ thống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Playlist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Thêm bài hát hợp lệ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"wrong_pass"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Báo lỗi "Sai tài khoản hoặc mật khẩu!" và nhập lại.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Hiển thị thông báo đỏ "Sai tài khoản hoặc mật khẩu!", quay lại màn hình đăng nhập.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Pass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7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Hệ thống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Playlist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Nhập đúng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"admin" / "123456"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Tìm thấy, hiển thị thông tin, +1 tần suất.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Vào Menu Admin, hiển thị "Xin chào Admin".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Pass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7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Hệ thống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Playlist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Tìm bài hát không tồn tại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"KHONG CO BAI NAY"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Hiển thị "Not Found", quay về menu chính.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Màn hình hiện "Not Found", không có lỗi crash.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Pass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91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Hệ thống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Đổi mật khẩu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Xóa bài hát tồn tại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"1111"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 dirty="0" err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Báo</a:t>
                      </a:r>
                      <a:r>
                        <a:rPr lang="en-US" sz="1200" u="none" strike="noStrike" cap="none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lang="en-US" sz="1200" u="none" strike="noStrike" cap="none" dirty="0" err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lỗi</a:t>
                      </a:r>
                      <a:r>
                        <a:rPr lang="en-US" sz="1200" u="none" strike="noStrike" cap="none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"</a:t>
                      </a:r>
                      <a:r>
                        <a:rPr lang="en-US" sz="1200" u="none" strike="noStrike" cap="none" dirty="0" err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Mật</a:t>
                      </a:r>
                      <a:r>
                        <a:rPr lang="en-US" sz="1200" u="none" strike="noStrike" cap="none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lang="en-US" sz="1200" u="none" strike="noStrike" cap="none" dirty="0" err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khẩu</a:t>
                      </a:r>
                      <a:r>
                        <a:rPr lang="en-US" sz="1200" u="none" strike="noStrike" cap="none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lang="en-US" sz="1200" u="none" strike="noStrike" cap="none" dirty="0" err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cũ</a:t>
                      </a:r>
                      <a:r>
                        <a:rPr lang="en-US" sz="1200" u="none" strike="noStrike" cap="none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lang="en-US" sz="1200" u="none" strike="noStrike" cap="none" dirty="0" err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không</a:t>
                      </a:r>
                      <a:r>
                        <a:rPr lang="en-US" sz="1200" u="none" strike="noStrike" cap="none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lang="en-US" sz="1200" u="none" strike="noStrike" cap="none" dirty="0" err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đúng</a:t>
                      </a:r>
                      <a:r>
                        <a:rPr lang="en-US" sz="1200" u="none" strike="noStrike" cap="none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!".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Bài hát biến mất khỏi danh sách, file TXT cập nhật.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Pass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91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Hệ thống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Đổi mật khẩu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Xóa bài hát không tồn tại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"KHONG CO BAI NAY"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Báo lỗi "Không được để trống!".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Hiển thị thông báo lỗi, không thêm vào danh sách.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Pass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91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Hệ thống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Đổi mật khẩu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Xóa toàn bộ playlist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"123456"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Báo lỗi "Không được trùng pass cũ!".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Hiển thị thông báo lỗi, không thêm vào danh sách.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Pass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91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Hệ thống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Đổi mật khẩu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Kiểm tra thống kê sau khi tìm kiếm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"newpass" &amp; "wrong"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Báo lỗi "Mật khẩu xác nhận không khớp!".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Hiển thị thông báo lỗi, không thêm vào danh sách.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Pass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6291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Hệ thống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Đổi mật khẩu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Thành công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"654321" &amp; "654321"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Dữ liệu vẫn còn sau khi tắt và mở lại chương trình.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Báo "Đổi mật khẩu thành công!", file JSON cập nhật pass mới.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b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Pass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5500" marR="5500" marT="550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12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Kết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luận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&amp;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Đánh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giá</a:t>
            </a:r>
            <a:endParaRPr b="1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5" name="Google Shape;375;p12"/>
          <p:cNvSpPr txBox="1">
            <a:spLocks noGrp="1"/>
          </p:cNvSpPr>
          <p:nvPr>
            <p:ph type="body" idx="1"/>
          </p:nvPr>
        </p:nvSpPr>
        <p:spPr>
          <a:xfrm>
            <a:off x="199450" y="1439875"/>
            <a:ext cx="11583875" cy="298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Dự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án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đã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hoàn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thành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100%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các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yêu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cầu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đề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ra.</a:t>
            </a:r>
            <a:endParaRPr dirty="0"/>
          </a:p>
          <a:p>
            <a:pPr marL="457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Ứng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dụng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thành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công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CTDL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mảng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đối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tượng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và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giải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thuật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Binary Search O(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logN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để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tối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ưu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tốc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độ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tra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cứu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bài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hát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trong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playlist.</a:t>
            </a:r>
            <a:endParaRPr dirty="0"/>
          </a:p>
          <a:p>
            <a:pPr marL="457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Hệ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thống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hoạt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động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ổn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định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hỗ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trợ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Tiếng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Việt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lưu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trữ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bền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bỉ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và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bắt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lỗi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nhập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liệu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hiệu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quả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6" name="Google Shape;376;p12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12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7" name="Google Shape;377;p12"/>
          <p:cNvSpPr txBox="1">
            <a:spLocks noGrp="1"/>
          </p:cNvSpPr>
          <p:nvPr>
            <p:ph type="title" idx="2"/>
          </p:nvPr>
        </p:nvSpPr>
        <p:spPr>
          <a:xfrm>
            <a:off x="23866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Đánh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giá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&amp;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kết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luận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13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Những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tính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năng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phương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pháp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sẽ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phát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triển</a:t>
            </a:r>
            <a:endParaRPr b="1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84" name="Google Shape;384;p13"/>
          <p:cNvSpPr txBox="1">
            <a:spLocks noGrp="1"/>
          </p:cNvSpPr>
          <p:nvPr>
            <p:ph type="body" idx="1"/>
          </p:nvPr>
        </p:nvSpPr>
        <p:spPr>
          <a:xfrm>
            <a:off x="216000" y="1729062"/>
            <a:ext cx="11976000" cy="340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Nâng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cấp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giao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diện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(UI):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Nâng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cấp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từ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Console sang Web App.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Nâng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cấp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lưu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trữ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Thay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file TXT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bằng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CSDL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quan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hệ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(SQLite/MySQL)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để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xử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lý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truy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vấn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phức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tạp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29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Mở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rộng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tính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năng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Tự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động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tạo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playlist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ngẫu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nhiên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theo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thể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loại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tích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hợp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API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phát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nhạc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thực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tế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85" name="Google Shape;385;p13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13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86" name="Google Shape;386;p13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Phát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triển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trong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tương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lai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14"/>
          <p:cNvSpPr txBox="1">
            <a:spLocks noGrp="1"/>
          </p:cNvSpPr>
          <p:nvPr>
            <p:ph type="title"/>
          </p:nvPr>
        </p:nvSpPr>
        <p:spPr>
          <a:xfrm>
            <a:off x="1780114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14" tIns="45700" rIns="91414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Tài liệu tham khảo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3" name="Google Shape;393;p14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76000" cy="4886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14" tIns="45700" rIns="91414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[1] Python Software Foundation, “Python 3.11 Official Documentation”, </a:t>
            </a:r>
            <a:r>
              <a:rPr lang="en-US" b="1" u="sng" dirty="0">
                <a:solidFill>
                  <a:schemeClr val="hlink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/>
              </a:rPr>
              <a:t>https://docs.python.org/3/</a:t>
            </a:r>
            <a:endParaRPr b="1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[2] Python Docs, “Built-in Types: list, str methods”, </a:t>
            </a:r>
            <a:r>
              <a:rPr lang="en-US" b="1" u="sng" dirty="0">
                <a:solidFill>
                  <a:schemeClr val="hlink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/>
              </a:rPr>
              <a:t>https://docs.python.org/3/library/stdtypes.html</a:t>
            </a:r>
            <a:endParaRPr b="1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[3]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GeeksforGeeks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, “Binary Search Algorithm in Python”, </a:t>
            </a:r>
            <a:endParaRPr dirty="0"/>
          </a:p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n-US" b="1" u="sng" dirty="0">
                <a:solidFill>
                  <a:schemeClr val="hlink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/>
              </a:rPr>
              <a:t>https://www.geeksforgeeks.org/binary-search/</a:t>
            </a:r>
            <a:endParaRPr b="1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[4]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Trường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ĐH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Lạc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Hồng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, “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Đề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cương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môn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Kỹ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Thuật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Lập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Trình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”, 2024.</a:t>
            </a:r>
            <a:endParaRPr b="1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4" name="Google Shape;394;p1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14" tIns="45700" rIns="91414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14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5" name="Google Shape;395;p14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14" tIns="45700" rIns="91414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Tài liệu hỗ trợ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15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</a:pPr>
            <a:r>
              <a:rPr lang="en-US" b="1">
                <a:latin typeface="Times New Roman"/>
                <a:ea typeface="Times New Roman"/>
                <a:cs typeface="Times New Roman"/>
                <a:sym typeface="Times New Roman"/>
              </a:rPr>
              <a:t>Câu hỏi &amp; Thảo luận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01" name="Google Shape;401;p15" descr="woman writing on a dry erase board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8" r="56"/>
          <a:stretch/>
        </p:blipFill>
        <p:spPr>
          <a:xfrm>
            <a:off x="895522" y="859155"/>
            <a:ext cx="6016834" cy="4910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5" descr="User"/>
          <p:cNvPicPr preferRelativeResize="0">
            <a:picLocks noGrp="1"/>
          </p:cNvPicPr>
          <p:nvPr>
            <p:ph type="pic" idx="5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15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en-US" dirty="0" err="1">
                <a:latin typeface="Times New Roman"/>
                <a:ea typeface="Times New Roman"/>
                <a:cs typeface="Times New Roman"/>
                <a:sym typeface="Times New Roman"/>
              </a:rPr>
              <a:t>Nhóm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1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04" name="Google Shape;404;p15" descr="Envelope"/>
          <p:cNvPicPr preferRelativeResize="0">
            <a:picLocks noGrp="1"/>
          </p:cNvPicPr>
          <p:nvPr>
            <p:ph type="pic" idx="6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15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en-US" u="sng" dirty="0">
                <a:solidFill>
                  <a:schemeClr val="hlink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hoangminhphat369@gmail.com</a:t>
            </a:r>
            <a:r>
              <a:rPr lang="en-US" sz="16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06" name="Google Shape;406;p15" descr="Monitor"/>
          <p:cNvPicPr preferRelativeResize="0">
            <a:picLocks noGrp="1"/>
          </p:cNvPicPr>
          <p:nvPr>
            <p:ph type="pic" idx="7"/>
          </p:nvPr>
        </p:nvPicPr>
        <p:blipFill rotWithShape="1">
          <a:blip r:embed="rId6">
            <a:alphaModFix/>
          </a:blip>
          <a:srcRect/>
          <a:stretch/>
        </p:blipFill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407" name="Google Shape;407;p15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en-US" sz="1600" dirty="0">
                <a:latin typeface="Times New Roman"/>
                <a:ea typeface="Times New Roman"/>
                <a:cs typeface="Times New Roman"/>
                <a:sym typeface="Times New Roman"/>
              </a:rPr>
              <a:t>cs.lhu.edu.vn 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08" name="Google Shape;408;p15"/>
          <p:cNvSpPr txBox="1">
            <a:spLocks noGrp="1"/>
          </p:cNvSpPr>
          <p:nvPr>
            <p:ph type="dt" idx="10"/>
          </p:nvPr>
        </p:nvSpPr>
        <p:spPr>
          <a:xfrm>
            <a:off x="90525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HK2 – 2025-2026</a:t>
            </a:r>
            <a:endParaRPr sz="1400" b="0" i="0" u="none" strike="noStrike" cap="none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09" name="Google Shape;409;p15"/>
          <p:cNvSpPr txBox="1">
            <a:spLocks noGrp="1"/>
          </p:cNvSpPr>
          <p:nvPr>
            <p:ph type="ftr" idx="11"/>
          </p:nvPr>
        </p:nvSpPr>
        <p:spPr>
          <a:xfrm>
            <a:off x="3607515" y="6254813"/>
            <a:ext cx="569061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Quản</a:t>
            </a:r>
            <a:r>
              <a:rPr lang="en-US" sz="1800" b="1" i="0" u="none" strike="noStrike" cap="none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800" b="1" i="0" u="none" strike="noStrike" cap="none" dirty="0" err="1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Lý</a:t>
            </a:r>
            <a:r>
              <a:rPr lang="en-US" sz="1800" b="1" i="0" u="none" strike="noStrike" cap="none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800" b="1" i="0" u="none" strike="noStrike" cap="none" dirty="0" err="1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Bài</a:t>
            </a:r>
            <a:r>
              <a:rPr lang="en-US" sz="1800" b="1" i="0" u="none" strike="noStrike" cap="none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800" b="1" i="0" u="none" strike="noStrike" cap="none" dirty="0" err="1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Hát</a:t>
            </a:r>
            <a:r>
              <a:rPr lang="en-US" sz="1800" b="1" i="0" u="none" strike="noStrike" cap="none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1" i="0" u="none" strike="noStrike" cap="none" dirty="0" err="1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Trong</a:t>
            </a:r>
            <a:r>
              <a:rPr lang="en-US" sz="1800" b="1" i="0" u="none" strike="noStrike" cap="none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Playlist</a:t>
            </a:r>
            <a:endParaRPr sz="1100" b="1" i="0" u="none" strike="noStrike" cap="none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10" name="Google Shape;410;p15"/>
          <p:cNvSpPr txBox="1">
            <a:spLocks noGrp="1"/>
          </p:cNvSpPr>
          <p:nvPr>
            <p:ph type="sldNum" idx="12"/>
          </p:nvPr>
        </p:nvSpPr>
        <p:spPr>
          <a:xfrm>
            <a:off x="9298142" y="63563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600">
                <a:latin typeface="Times New Roman"/>
                <a:ea typeface="Times New Roman"/>
                <a:cs typeface="Times New Roman"/>
                <a:sym typeface="Times New Roman"/>
              </a:rPr>
              <a:t>15</a:t>
            </a:r>
            <a:endParaRPr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rgbClr val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2086</Words>
  <Application>Microsoft Office PowerPoint</Application>
  <PresentationFormat>Widescreen</PresentationFormat>
  <Paragraphs>270</Paragraphs>
  <Slides>17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Roboto Medium</vt:lpstr>
      <vt:lpstr>Avenir</vt:lpstr>
      <vt:lpstr>Quattrocento Sans</vt:lpstr>
      <vt:lpstr>Calibri</vt:lpstr>
      <vt:lpstr>Arial</vt:lpstr>
      <vt:lpstr>Roboto Black</vt:lpstr>
      <vt:lpstr>Times New Roman</vt:lpstr>
      <vt:lpstr>Roboto</vt:lpstr>
      <vt:lpstr>AccentBoxVTI</vt:lpstr>
      <vt:lpstr>BÁO CÁO ĐỒ ÁN CUỐI KỲ Quản Lý Bài Hát Trong Playlist Môn: Kỹ Thuật Lập Trình</vt:lpstr>
      <vt:lpstr>Giới thiệu Tên đề tài &amp; Nhóm</vt:lpstr>
      <vt:lpstr>NỘI DUNG</vt:lpstr>
      <vt:lpstr>Giới Thiệu Đề Tài</vt:lpstr>
      <vt:lpstr>Mục Tiêu Đề Tài</vt:lpstr>
      <vt:lpstr>Phạm Vi &amp; Phương Pháp</vt:lpstr>
      <vt:lpstr>Khảo Sát &amp; Yêu Cầu Hệ Thống</vt:lpstr>
      <vt:lpstr>Kiến Trúc Hệ Thống</vt:lpstr>
      <vt:lpstr>Thiết Kế Lưu Đồ Hệ Thống</vt:lpstr>
      <vt:lpstr>Biện Luận CTDL &amp; Thuật Toán</vt:lpstr>
      <vt:lpstr>Công Cụ &amp; Tiến Độ Thực Hiện</vt:lpstr>
      <vt:lpstr>Kết Quả Thực Hiện</vt:lpstr>
      <vt:lpstr>Bảng Kiểm Thử</vt:lpstr>
      <vt:lpstr>Kết luận &amp; Đánh giá</vt:lpstr>
      <vt:lpstr>Những tính năng, phương pháp sẽ phát triển</vt:lpstr>
      <vt:lpstr>Tài liệu tham khảo</vt:lpstr>
      <vt:lpstr>Câu hỏi &amp; Thảo luận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BÁO CÁO ĐỒ ÁN CUỐI KỲ Quản Lý Bài Hát Trong Playlist Môn: Kỹ Thuật Lập Trình</dc:title>
  <cp:lastModifiedBy>Trần Huy</cp:lastModifiedBy>
  <cp:revision>3</cp:revision>
  <dcterms:modified xsi:type="dcterms:W3CDTF">2026-05-28T02:50:10Z</dcterms:modified>
</cp:coreProperties>
</file>