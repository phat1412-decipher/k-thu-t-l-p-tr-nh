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4" r:id="rId6"/>
    <p:sldId id="263" r:id="rId7"/>
    <p:sldId id="283" r:id="rId8"/>
    <p:sldId id="284" r:id="rId9"/>
    <p:sldId id="266" r:id="rId10"/>
    <p:sldId id="285" r:id="rId11"/>
    <p:sldId id="286" r:id="rId12"/>
    <p:sldId id="275" r:id="rId13"/>
    <p:sldId id="276" r:id="rId14"/>
    <p:sldId id="279" r:id="rId15"/>
    <p:sldId id="280" r:id="rId16"/>
    <p:sldId id="281" r:id="rId17"/>
    <p:sldId id="282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Quattrocento Sans" panose="020B060402020202020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Black" panose="02000000000000000000" pitchFamily="2" charset="0"/>
      <p:bold r:id="rId32"/>
      <p:boldItalic r:id="rId33"/>
    </p:embeddedFont>
    <p:embeddedFont>
      <p:font typeface="Roboto Medium" pitchFamily="2" charset="0"/>
      <p:regular r:id="rId34"/>
      <p:bold r:id="rId35"/>
      <p:italic r:id="rId36"/>
      <p:boldItalic r:id="rId37"/>
    </p:embeddedFont>
    <p:embeddedFont>
      <p:font typeface="Times" panose="02020603050405020304" pitchFamily="18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hZvbDvMNgvKoY36iGkAiDcwbiT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145267-B3DB-4557-BC89-240FBBC10655}">
  <a:tblStyle styleId="{F6145267-B3DB-4557-BC89-240FBBC1065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6"/>
          </a:solidFill>
        </a:fill>
      </a:tcStyle>
    </a:wholeTbl>
    <a:band1H>
      <a:tcTxStyle/>
      <a:tcStyle>
        <a:tcBdr/>
        <a:fill>
          <a:solidFill>
            <a:srgbClr val="FBE1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BE1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b="0" i="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ID=d924773e-9a16-4d6d-9803-8cb819e99682</a:t>
            </a:r>
            <a:br>
              <a:rPr lang="en-US"/>
            </a:br>
            <a:r>
              <a:rPr lang="en-US"/>
              <a:t>Recipe=text_billboard</a:t>
            </a:r>
            <a:br>
              <a:rPr lang="en-US"/>
            </a:br>
            <a:r>
              <a:rPr lang="en-US"/>
              <a:t>Type=TextOnly</a:t>
            </a:r>
            <a:br>
              <a:rPr lang="en-US"/>
            </a:br>
            <a:r>
              <a:rPr lang="en-US"/>
              <a:t>Variant=0</a:t>
            </a:r>
            <a:br>
              <a:rPr lang="en-US"/>
            </a:br>
            <a:r>
              <a:rPr lang="en-US"/>
              <a:t>FamilyID=AccentBoxWalbaum_Zero</a:t>
            </a:r>
            <a:endParaRPr/>
          </a:p>
        </p:txBody>
      </p:sp>
      <p:sp>
        <p:nvSpPr>
          <p:cNvPr id="126" name="Google Shape;12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e74d4e98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8e74d4e989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8e74d4e989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" name="Google Shape;38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Google Shape;23;p18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24" name="Google Shape;24;p18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9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Google Shape;31;p19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9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0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0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Google Shape;48;p21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1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1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5" name="Google Shape;55;p22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2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22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2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4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4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4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6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26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4" name="Google Shape;94;p26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7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7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7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7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7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7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7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7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8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0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0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1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1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31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b="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oogle Shape;13;p1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3568" y="-273096"/>
            <a:ext cx="1469263" cy="146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>
            <a:spLocks noGrp="1"/>
          </p:cNvSpPr>
          <p:nvPr>
            <p:ph type="ctrTitle"/>
          </p:nvPr>
        </p:nvSpPr>
        <p:spPr>
          <a:xfrm>
            <a:off x="195575" y="1267875"/>
            <a:ext cx="11779200" cy="25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940"/>
              <a:buFont typeface="Quattrocento Sans"/>
              <a:buNone/>
            </a:pPr>
            <a:r>
              <a:rPr lang="en-US" sz="5640" b="1" dirty="0">
                <a:latin typeface="Times New Roman"/>
                <a:ea typeface="Times New Roman"/>
                <a:cs typeface="Times New Roman"/>
                <a:sym typeface="Times New Roman"/>
              </a:rPr>
              <a:t>BÁO CÁO ĐỒ ÁN CUỐI KỲ</a:t>
            </a:r>
            <a:endParaRPr sz="564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940"/>
              <a:buNone/>
            </a:pPr>
            <a:r>
              <a:rPr lang="en-US" sz="5640" b="1" dirty="0">
                <a:latin typeface="Times New Roman"/>
                <a:ea typeface="Times New Roman"/>
                <a:cs typeface="Times New Roman"/>
                <a:sym typeface="Times New Roman"/>
              </a:rPr>
              <a:t>Quản Lý Bài Hát Trong Playlist</a:t>
            </a:r>
            <a:br>
              <a:rPr lang="en-US" sz="564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640" b="1" dirty="0">
                <a:latin typeface="Times New Roman"/>
                <a:ea typeface="Times New Roman"/>
                <a:cs typeface="Times New Roman"/>
                <a:sym typeface="Times New Roman"/>
              </a:rPr>
              <a:t>Môn: Kỹ Thuật Lập Trình</a:t>
            </a:r>
            <a:endParaRPr sz="464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Lạc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Hồng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– Khoa CNTT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Giới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thiệu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tài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tài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4398344" y="2493358"/>
            <a:ext cx="339530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 viên: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Đoàn Thiện Minh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4571402" y="2902576"/>
            <a:ext cx="304919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Nhóm 1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2657475" y="3462982"/>
            <a:ext cx="71247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 Quang Huy – MSSV: 125001825 – 25CT113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Minh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MSSV: 125001323 – 25CT113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1236147" y="1203698"/>
            <a:ext cx="971970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 err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</a:t>
            </a:r>
            <a:r>
              <a:rPr lang="en-US" sz="2800" b="1" i="0" u="none" strike="noStrike" cap="none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 dirty="0" err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Lý</a:t>
            </a:r>
            <a:r>
              <a:rPr lang="en-US" sz="2800" b="1" i="0" u="none" strike="noStrike" cap="none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 dirty="0" err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2800" b="1" i="0" u="none" strike="noStrike" cap="none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 dirty="0" err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2800" b="1" i="0" u="none" strike="noStrike" cap="none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 err="1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800" b="1" i="0" u="none" strike="noStrike" cap="none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Playlist</a:t>
            </a:r>
            <a:endParaRPr sz="1600" b="1" i="0" u="none" strike="noStrike" cap="none" dirty="0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3410392" y="2101406"/>
            <a:ext cx="537121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HK2 –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2025-2026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18992" cy="377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5143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 b="1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THIỆU ĐỀ TÀI: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Vấn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mục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tiêu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quyết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628650" lvl="0" indent="-5143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 b="1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TIÊU &amp; KẾT QUẢ MONG ĐỢI: 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Khảo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sát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yêu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phi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628650" lvl="0" indent="-5143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 b="1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ĐỘ THỰC HIỆN: 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Kiến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trúc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đồ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, CTDL &amp;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toán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628650" lvl="0" indent="-5143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 b="1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 HOẠCH TIẾP THEO: 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Giao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diện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kiểm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thử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quả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628650" lvl="0" indent="-514350" algn="l" rtl="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SzPts val="1800"/>
              <a:buFont typeface="Arial"/>
              <a:buAutoNum type="arabicPeriod"/>
            </a:pPr>
            <a:r>
              <a:rPr lang="en-US" sz="2400" b="1" dirty="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ĐÁNH GIÁ TIẾN ĐỘ: 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hạn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chế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sp>
        <p:nvSpPr>
          <p:cNvPr id="150" name="Google Shape;150;p2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NỘI DUNG BÁO CÁO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e74d4e989_0_25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Giới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Thiệu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Tài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8e74d4e989_0_25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g38e74d4e989_0_25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54288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33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Quản Lý Bài Hát Trong Playlist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g38e74d4e989_0_25"/>
          <p:cNvSpPr txBox="1">
            <a:spLocks noGrp="1"/>
          </p:cNvSpPr>
          <p:nvPr>
            <p:ph type="body" idx="1"/>
          </p:nvPr>
        </p:nvSpPr>
        <p:spPr>
          <a:xfrm>
            <a:off x="0" y="1103518"/>
            <a:ext cx="8172450" cy="423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82949"/>
              <a:buNone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VẤN ĐỀ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Bối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cảnh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900" dirty="0"/>
          </a:p>
          <a:p>
            <a:pPr marL="457200" lvl="0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82949"/>
              <a:buChar char="•"/>
            </a:pP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Quản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lý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nhạc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thủ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kiểu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ghi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chép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 dirty="0"/>
          </a:p>
          <a:p>
            <a:pPr marL="457200" lvl="0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82949"/>
              <a:buChar char="•"/>
            </a:pP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kiếm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chậm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Duyệt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tuần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O(N)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playlist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82949"/>
              <a:buChar char="•"/>
            </a:pP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kê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biết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nào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nghe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nhiều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1430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82949"/>
              <a:buNone/>
            </a:pPr>
            <a:endParaRPr sz="1900" dirty="0"/>
          </a:p>
          <a:p>
            <a:pPr marL="11430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82949"/>
              <a:buNone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GIẢI PHÁP 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(Console Python App)</a:t>
            </a:r>
            <a:endParaRPr sz="1900" dirty="0"/>
          </a:p>
          <a:p>
            <a:pPr marL="457200" lvl="0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82949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CTDL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tối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ưu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Mảng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đối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tượng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+ Binary Search O(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logN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900" dirty="0"/>
          </a:p>
          <a:p>
            <a:pPr marL="457200" lvl="0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82949"/>
              <a:buChar char="•"/>
            </a:pP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sắp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xếp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ABC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ngay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 dirty="0"/>
          </a:p>
          <a:p>
            <a:pPr marL="457200" lvl="0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82949"/>
              <a:buChar char="•"/>
            </a:pP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kê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Ghi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tần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suất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tra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người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dùng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FE5D50-0818-47A9-B937-2D492058D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726" y="902350"/>
            <a:ext cx="4893287" cy="399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 txBox="1">
            <a:spLocks noGrp="1"/>
          </p:cNvSpPr>
          <p:nvPr>
            <p:ph type="title"/>
          </p:nvPr>
        </p:nvSpPr>
        <p:spPr>
          <a:xfrm>
            <a:off x="174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Mục Tiêu Đề Tài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4"/>
          <p:cNvSpPr txBox="1">
            <a:spLocks noGrp="1"/>
          </p:cNvSpPr>
          <p:nvPr>
            <p:ph type="sldNum" idx="12"/>
          </p:nvPr>
        </p:nvSpPr>
        <p:spPr>
          <a:xfrm>
            <a:off x="9294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4"/>
          <p:cNvSpPr txBox="1">
            <a:spLocks noGrp="1"/>
          </p:cNvSpPr>
          <p:nvPr>
            <p:ph type="title" idx="2"/>
          </p:nvPr>
        </p:nvSpPr>
        <p:spPr>
          <a:xfrm>
            <a:off x="2305500" y="494450"/>
            <a:ext cx="4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Quản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Lý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Playlist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041" y="1179957"/>
            <a:ext cx="2552700" cy="37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2124" y="1579141"/>
            <a:ext cx="4000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"/>
          <p:cNvSpPr txBox="1"/>
          <p:nvPr/>
        </p:nvSpPr>
        <p:spPr>
          <a:xfrm>
            <a:off x="983949" y="2500972"/>
            <a:ext cx="2141504" cy="214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CTDL &amp; </a:t>
            </a:r>
            <a:r>
              <a:rPr lang="en-US" sz="1600" b="1" i="0" u="none" strike="noStrike" cap="none" dirty="0" err="1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1600" b="1" i="0" u="none" strike="noStrike" cap="none" dirty="0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endParaRPr sz="1400" b="1" i="0" u="none" strike="noStrike" cap="none" dirty="0">
              <a:solidFill>
                <a:srgbClr val="F7B4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Mảng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đối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tượng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Binary Search O(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logN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ưu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tốc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Google Shape;21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3576" y="1179957"/>
            <a:ext cx="2552700" cy="37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"/>
          <p:cNvSpPr txBox="1"/>
          <p:nvPr/>
        </p:nvSpPr>
        <p:spPr>
          <a:xfrm>
            <a:off x="3705484" y="2505608"/>
            <a:ext cx="2141504" cy="243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Nghiệp Vụ CRUD</a:t>
            </a:r>
            <a:endParaRPr sz="1600" b="1" i="0" u="none" strike="noStrike" cap="none">
              <a:solidFill>
                <a:srgbClr val="F7B4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7B4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Thêm, Xóa bài hát, xóa toàn playlist, tìm kiếm và hiển thị danh sách.</a:t>
            </a:r>
            <a:endParaRPr sz="1400" b="0" i="0" u="none" strike="noStrike" cap="none">
              <a:solidFill>
                <a:srgbClr val="CBD5E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0" name="Google Shape;22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4476" y="1579142"/>
            <a:ext cx="3429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5111" y="1179957"/>
            <a:ext cx="2552700" cy="37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"/>
          <p:cNvSpPr txBox="1"/>
          <p:nvPr/>
        </p:nvSpPr>
        <p:spPr>
          <a:xfrm>
            <a:off x="6507019" y="2505608"/>
            <a:ext cx="2141504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Thuật Toán Tối Ưu</a:t>
            </a:r>
            <a:endParaRPr sz="1600" b="1" i="0" u="none" strike="noStrike" cap="none">
              <a:solidFill>
                <a:srgbClr val="F7B4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7B4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Sắp xếp tự động theo ABC + Tìm kiếm nhị phân, thống kê tần suất tra cứu.</a:t>
            </a:r>
            <a:endParaRPr/>
          </a:p>
        </p:txBody>
      </p:sp>
      <p:pic>
        <p:nvPicPr>
          <p:cNvPr id="223" name="Google Shape;223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92461" y="1606924"/>
            <a:ext cx="4572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6646" y="1179957"/>
            <a:ext cx="2552700" cy="37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"/>
          <p:cNvSpPr txBox="1"/>
          <p:nvPr/>
        </p:nvSpPr>
        <p:spPr>
          <a:xfrm>
            <a:off x="9200616" y="2500972"/>
            <a:ext cx="2269343" cy="243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 </a:t>
            </a:r>
            <a:r>
              <a:rPr lang="en-US" sz="1600" b="1" i="0" u="none" strike="noStrike" cap="none" dirty="0" err="1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1600" b="1" i="0" u="none" strike="noStrike" cap="none" dirty="0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7B4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endParaRPr sz="1600" b="1" i="0" u="none" strike="noStrike" cap="none" dirty="0">
              <a:solidFill>
                <a:srgbClr val="F7B4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F7B4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bền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bỉ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 file TXT,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hỗ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trợ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Việt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chuẩn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hóa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HOA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bắt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dạng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pic>
        <p:nvPicPr>
          <p:cNvPr id="226" name="Google Shape;226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54396" y="1606924"/>
            <a:ext cx="45720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>
            <a:spLocks noGrp="1"/>
          </p:cNvSpPr>
          <p:nvPr>
            <p:ph type="title"/>
          </p:nvPr>
        </p:nvSpPr>
        <p:spPr>
          <a:xfrm>
            <a:off x="13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300" rIns="91425" bIns="453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Phạm Vi &amp; Phương Pháp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6"/>
          <p:cNvSpPr txBox="1">
            <a:spLocks noGrp="1"/>
          </p:cNvSpPr>
          <p:nvPr>
            <p:ph type="body" idx="1"/>
          </p:nvPr>
        </p:nvSpPr>
        <p:spPr>
          <a:xfrm>
            <a:off x="122350" y="1034335"/>
            <a:ext cx="1193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300" rIns="91425" bIns="453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543"/>
              <a:buNone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Phạm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Vi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Dự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Án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3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ứng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Ứng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Console Python,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chạy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mọi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hành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hỗ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trợ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Python 3.11.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3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Dùng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file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phẳng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playlist.txt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đọc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ghi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bền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bỉ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khởi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tắt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chương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trình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53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Phạm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vi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nghiệp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vụ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Quản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lý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kiếm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kê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tần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suất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543"/>
              <a:buNone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Pháp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3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yêu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(CRUD,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kiếm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phi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in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hoa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bắt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dirty="0"/>
          </a:p>
          <a:p>
            <a:pPr marL="453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kế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Xây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dựng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CTDL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mảng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đối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tượng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sắp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xếp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kiếm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nhị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53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khai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Cài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đặt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bộ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module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bằng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ngôn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ngữ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Python.</a:t>
            </a:r>
            <a:endParaRPr dirty="0"/>
          </a:p>
          <a:p>
            <a:pPr marL="453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Kiểm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thử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trực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tiếp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Console,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kiểm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tra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kịch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6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3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300" rIns="91425" bIns="453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6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300" rIns="91425" bIns="453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Chi tiết dự án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>
            <a:spLocks noGrp="1"/>
          </p:cNvSpPr>
          <p:nvPr>
            <p:ph type="title"/>
          </p:nvPr>
        </p:nvSpPr>
        <p:spPr>
          <a:xfrm>
            <a:off x="15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500" rIns="91425" bIns="455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Khảo Sát &amp; Yêu Cầu Hệ Thống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6"/>
          <p:cNvSpPr txBox="1">
            <a:spLocks noGrp="1"/>
          </p:cNvSpPr>
          <p:nvPr>
            <p:ph type="body" idx="1"/>
          </p:nvPr>
        </p:nvSpPr>
        <p:spPr>
          <a:xfrm>
            <a:off x="122350" y="1054555"/>
            <a:ext cx="1195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500" rIns="91425" bIns="455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543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Yêu Cầu Chức Năng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5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CTDL &amp; Giải thuật: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Danh sách đối tượng + Binary Search, tối ưu thời gian tra cứu.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5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CRUD: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Thêm, Xóa một/toàn bộ bài hát, Tìm kiếm theo tên bài hát.</a:t>
            </a:r>
            <a:endParaRPr/>
          </a:p>
          <a:p>
            <a:pPr marL="455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Thuật toán: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Sắp xếp tự động ABC, Tìm kiếm nhị phân O(logN), thống kê tần suất.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543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Yêu Cầu Phi Chức Năng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5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Chuẩn hóa dữ liệu: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Tự động chuyển IN HOA toàn bộ đầu vào và đầu ra.</a:t>
            </a:r>
            <a:endParaRPr/>
          </a:p>
          <a:p>
            <a:pPr marL="455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Lưu trữ bền bỉ: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Tự động đọc/ghi file playlist.txt khi khởi động &amp; thay đổi.</a:t>
            </a:r>
            <a:endParaRPr/>
          </a:p>
          <a:p>
            <a:pPr marL="455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Trải nghiệm người dùng: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Menu số trực quan, bắt lỗi định dạng thời lượng mm:ss.</a:t>
            </a:r>
            <a:endParaRPr/>
          </a:p>
          <a:p>
            <a:pPr marL="455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Hỗ trợ Tiếng Việt: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Hiển thị và nhập đầy đủ ký tự Tiếng Việt có dấu.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6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5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500" rIns="91425" bIns="455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6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500" rIns="91425" bIns="455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Chi tiết yêu cầu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 txBox="1">
            <a:spLocks noGrp="1"/>
          </p:cNvSpPr>
          <p:nvPr>
            <p:ph type="title"/>
          </p:nvPr>
        </p:nvSpPr>
        <p:spPr>
          <a:xfrm>
            <a:off x="176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Kiến Trúc Hệ Thống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4"/>
          <p:cNvSpPr txBox="1">
            <a:spLocks noGrp="1"/>
          </p:cNvSpPr>
          <p:nvPr>
            <p:ph type="sldNum" idx="12"/>
          </p:nvPr>
        </p:nvSpPr>
        <p:spPr>
          <a:xfrm>
            <a:off x="9296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4"/>
          <p:cNvSpPr txBox="1">
            <a:spLocks noGrp="1"/>
          </p:cNvSpPr>
          <p:nvPr>
            <p:ph type="title" idx="2"/>
          </p:nvPr>
        </p:nvSpPr>
        <p:spPr>
          <a:xfrm>
            <a:off x="2305500" y="496650"/>
            <a:ext cx="6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Quản Lý Bài Hát Trong Playlist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2041" y="1179957"/>
            <a:ext cx="2552700" cy="37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2124" y="1579161"/>
            <a:ext cx="4000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"/>
          <p:cNvSpPr txBox="1"/>
          <p:nvPr/>
        </p:nvSpPr>
        <p:spPr>
          <a:xfrm>
            <a:off x="927637" y="2122607"/>
            <a:ext cx="2141506" cy="216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7B6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1: CTDL</a:t>
            </a:r>
            <a:endParaRPr sz="1400" b="1" i="0" u="none" strike="noStrike" cap="none" dirty="0">
              <a:solidFill>
                <a:srgbClr val="F7B6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nghĩa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Playlist: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Songname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artist, type, time,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tần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suất</a:t>
            </a:r>
            <a:r>
              <a:rPr lang="en-US" sz="140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Google Shape;2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63576" y="1179957"/>
            <a:ext cx="2552700" cy="37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"/>
          <p:cNvSpPr txBox="1"/>
          <p:nvPr/>
        </p:nvSpPr>
        <p:spPr>
          <a:xfrm>
            <a:off x="3669172" y="2127243"/>
            <a:ext cx="2141506" cy="243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7B6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2: Giải Thuật</a:t>
            </a:r>
            <a:endParaRPr sz="1600" b="1" i="0" u="none" strike="noStrike" cap="none">
              <a:solidFill>
                <a:srgbClr val="F7B6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7B6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Sắp xếp ABC, Binary Search O(logN), CRUD, thống kê tần suất.</a:t>
            </a:r>
            <a:endParaRPr sz="1600" b="0" i="0" u="none" strike="noStrike" cap="none">
              <a:solidFill>
                <a:srgbClr val="CBD5E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0" name="Google Shape;22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6476" y="1579162"/>
            <a:ext cx="3429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45111" y="1179957"/>
            <a:ext cx="2552700" cy="37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"/>
          <p:cNvSpPr txBox="1"/>
          <p:nvPr/>
        </p:nvSpPr>
        <p:spPr>
          <a:xfrm>
            <a:off x="6450707" y="2127243"/>
            <a:ext cx="2141506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7B6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3: Giao Diện</a:t>
            </a:r>
            <a:endParaRPr sz="1600" b="1" i="0" u="none" strike="noStrike" cap="none">
              <a:solidFill>
                <a:srgbClr val="F7B6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7B6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Vòng lặp menu 1-5, nhập/xuất Console, bắt lỗi, lưu file TXT.</a:t>
            </a:r>
            <a:endParaRPr/>
          </a:p>
        </p:txBody>
      </p:sp>
      <p:pic>
        <p:nvPicPr>
          <p:cNvPr id="223" name="Google Shape;223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2661" y="1606924"/>
            <a:ext cx="4572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6646" y="1179957"/>
            <a:ext cx="2552700" cy="37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"/>
          <p:cNvSpPr txBox="1"/>
          <p:nvPr/>
        </p:nvSpPr>
        <p:spPr>
          <a:xfrm>
            <a:off x="9146304" y="2122607"/>
            <a:ext cx="2269363" cy="243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7B6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 Trữ Dữ Liệu</a:t>
            </a:r>
            <a:endParaRPr sz="1600" b="1" i="0" u="none" strike="noStrike" cap="none">
              <a:solidFill>
                <a:srgbClr val="F7B6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7B6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playlist.txt: Đọc khi khởi động, ghi sau mỗi thao tác CRUD.</a:t>
            </a:r>
            <a:endParaRPr/>
          </a:p>
        </p:txBody>
      </p:sp>
      <p:pic>
        <p:nvPicPr>
          <p:cNvPr id="226" name="Google Shape;22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4396" y="1606924"/>
            <a:ext cx="45720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7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Thiết Kế Lưu Đồ Hệ Thống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7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7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Quy trình xử lý chức năng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>
            <a:spLocks noGrp="1"/>
          </p:cNvSpPr>
          <p:nvPr>
            <p:ph type="title"/>
          </p:nvPr>
        </p:nvSpPr>
        <p:spPr>
          <a:xfrm>
            <a:off x="18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800" rIns="91425" bIns="458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Biện Luận CTDL &amp; Thuật Toán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6"/>
          <p:cNvSpPr txBox="1">
            <a:spLocks noGrp="1"/>
          </p:cNvSpPr>
          <p:nvPr>
            <p:ph type="body" idx="1"/>
          </p:nvPr>
        </p:nvSpPr>
        <p:spPr>
          <a:xfrm>
            <a:off x="122350" y="1084885"/>
            <a:ext cx="1198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800" rIns="91425" bIns="458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543"/>
              <a:buNone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Pháp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1: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Duyệt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Tuần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O(N)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8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Cấu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trúc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liên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mảng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8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Linear Search –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duyệt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đầu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cuối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58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Nhược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điểm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Tối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N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so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sánh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đáp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ứng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playlist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543"/>
              <a:buNone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Pháp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2: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Kiếm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Nhị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O(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logN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8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Cấu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trúc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Mảng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đối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tượng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luôn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duy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trì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sắp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xếp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dần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58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Binary Search –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hẹp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phạm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vi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xuống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1/2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mỗi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bước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58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Hiệu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10000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tối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14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so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sánh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(log(10000) ≈ 14).</a:t>
            </a:r>
            <a:endParaRPr dirty="0"/>
          </a:p>
          <a:p>
            <a:pPr marL="458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Đánh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đổi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tốn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chi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phí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sắp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xếp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nhưng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tra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cực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nhanh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6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8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800" rIns="91425" bIns="458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6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800" rIns="91425" bIns="458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Chi tiết thiết kế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>
            <a:spLocks noGrp="1"/>
          </p:cNvSpPr>
          <p:nvPr>
            <p:ph type="title"/>
          </p:nvPr>
        </p:nvSpPr>
        <p:spPr>
          <a:xfrm>
            <a:off x="19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900" rIns="91425" bIns="459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Công Cụ &amp; Tiến Độ Thực Hiện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6"/>
          <p:cNvSpPr txBox="1">
            <a:spLocks noGrp="1"/>
          </p:cNvSpPr>
          <p:nvPr>
            <p:ph type="body" idx="1"/>
          </p:nvPr>
        </p:nvSpPr>
        <p:spPr>
          <a:xfrm>
            <a:off x="122350" y="1094995"/>
            <a:ext cx="1199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900" rIns="91425" bIns="459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543"/>
              <a:buNone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Môi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9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Ngôn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ngữ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Python 3.11 –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CPython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Interpreter.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9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IDE: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Visual Studio Code + Extension Python.</a:t>
            </a:r>
            <a:endParaRPr dirty="0"/>
          </a:p>
          <a:p>
            <a:pPr marL="459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Phần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cứng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CPU Intel i3+, RAM 4GB+,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file playlist.txt.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543"/>
              <a:buNone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9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Trần Quang Huy: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kế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CTDL,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cài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đặt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Binary Search, module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kê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59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Hoàng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Minh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Cài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đặt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CRUD, module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giao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diện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Console,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file TXT.</a:t>
            </a:r>
            <a:endParaRPr dirty="0"/>
          </a:p>
          <a:p>
            <a:pPr marL="459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Cả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Kiểm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thử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viết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cáo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chuẩn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slide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thuyết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trình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59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gian</a:t>
            </a: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HK2 –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2025-2026.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6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9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900" rIns="91425" bIns="459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6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900" rIns="91425" bIns="459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Chi tiết thực hiện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sz="3120" b="1">
                <a:latin typeface="Times New Roman"/>
                <a:ea typeface="Times New Roman"/>
                <a:cs typeface="Times New Roman"/>
                <a:sym typeface="Times New Roman"/>
              </a:rPr>
              <a:t>Kết Quả Thực Hiện</a:t>
            </a:r>
            <a:endParaRPr sz="31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9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9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0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Giao diện &amp; Chức năng đã cài đặt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9"/>
          <p:cNvSpPr txBox="1">
            <a:spLocks noGrp="1"/>
          </p:cNvSpPr>
          <p:nvPr>
            <p:ph type="body" idx="1"/>
          </p:nvPr>
        </p:nvSpPr>
        <p:spPr>
          <a:xfrm>
            <a:off x="127472" y="779141"/>
            <a:ext cx="10951306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1 –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</a:t>
            </a:r>
            <a:endParaRPr sz="1600" b="0" i="0" u="none" strike="noStrike" cap="none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lượng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, ca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sĩ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thể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lượng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mm:ss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).</a:t>
            </a:r>
            <a:endParaRPr sz="1600" dirty="0">
              <a:latin typeface="Times" panose="02020603050405020304" pitchFamily="18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Kỹ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vi-VN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Sử dụng cấu trúc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List</a:t>
            </a:r>
            <a:r>
              <a:rPr lang="vi-VN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kết hợp phương thức .sort() để tự động sắp xếp Playlist theo bảng chữ cái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latin typeface="Times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 startAt="2"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2 –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</a:t>
            </a:r>
            <a:endParaRPr sz="1600" b="0" i="0" u="none" strike="noStrike" cap="none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IN HOA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khỏi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mảng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latin typeface="Times" panose="02020603050405020304" pitchFamily="18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Kỹ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Cập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nhật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ngay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file TXT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Đảm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bảo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mất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 startAt="3"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4 –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kiếm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</a:t>
            </a:r>
            <a:endParaRPr sz="1600" b="0" i="0" u="none" strike="noStrike" cap="none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kích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hoạt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Binary Search O(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logN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).</a:t>
            </a:r>
            <a:endParaRPr sz="1600" dirty="0">
              <a:latin typeface="Times" panose="02020603050405020304" pitchFamily="18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Kỹ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cộng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1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bộ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đếm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tần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suất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tra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kê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nghe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nhiều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latin typeface="Times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 startAt="4"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3 –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bộ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</a:t>
            </a:r>
            <a:endParaRPr sz="1600" b="0" i="0" u="none" strike="noStrike" cap="none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Dọn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sạch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mảng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file TXT,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hiển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thị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"Deleted !".</a:t>
            </a:r>
            <a:endParaRPr sz="1600" dirty="0">
              <a:latin typeface="Times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 startAt="5"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5 –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Thoát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:</a:t>
            </a:r>
            <a:endParaRPr sz="1600" b="0" i="0" u="none" strike="noStrike" cap="none" dirty="0">
              <a:solidFill>
                <a:schemeClr val="dk1"/>
              </a:solidFill>
              <a:latin typeface="Times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bộ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trạng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thái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, in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lời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chào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"Goodbye ! no see you again"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thúc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vi-VN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6.      </a:t>
            </a:r>
            <a:r>
              <a:rPr lang="vi-VN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Chức năng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6</a:t>
            </a:r>
            <a:r>
              <a:rPr lang="vi-VN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Hiển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thị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tin Playlist</a:t>
            </a:r>
            <a:r>
              <a:rPr lang="vi-VN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vi-VN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Đóng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vai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trò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1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giao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diện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trực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quan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giúp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người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dùng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dõi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bộ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trạng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thái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 New Roman"/>
                <a:sym typeface="Times New Roman"/>
              </a:rPr>
              <a:t> Playlist.</a:t>
            </a:r>
            <a:endParaRPr lang="vi-VN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600" dirty="0">
              <a:latin typeface="Times" panose="02020603050405020304" pitchFamily="18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endParaRPr sz="1600" dirty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sz="3120" b="1">
                <a:latin typeface="Times New Roman"/>
                <a:ea typeface="Times New Roman"/>
                <a:cs typeface="Times New Roman"/>
                <a:sym typeface="Times New Roman"/>
              </a:rPr>
              <a:t>Bảng Kiểm Thử</a:t>
            </a:r>
            <a:endParaRPr sz="31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7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37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Bảng Kiểm Thử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B2F8BC-0467-499A-8FD7-E58D04FB3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4312"/>
            <a:ext cx="12192000" cy="4429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luận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Đánh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12"/>
          <p:cNvSpPr txBox="1">
            <a:spLocks noGrp="1"/>
          </p:cNvSpPr>
          <p:nvPr>
            <p:ph type="body" idx="1"/>
          </p:nvPr>
        </p:nvSpPr>
        <p:spPr>
          <a:xfrm>
            <a:off x="199450" y="1439875"/>
            <a:ext cx="11583875" cy="298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Dự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án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hoàn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100%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yêu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ra.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Ứng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CTDL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mảng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đối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tượng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Binary Search O(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logN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tối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ưu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tốc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tra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playlist.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hoạt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ổn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hỗ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trợ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Tiếng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Việt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bền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bỉ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bắt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hiệu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quả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12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12"/>
          <p:cNvSpPr txBox="1">
            <a:spLocks noGrp="1"/>
          </p:cNvSpPr>
          <p:nvPr>
            <p:ph type="title" idx="2"/>
          </p:nvPr>
        </p:nvSpPr>
        <p:spPr>
          <a:xfrm>
            <a:off x="23866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Đánh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luận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pháp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sẽ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13"/>
          <p:cNvSpPr txBox="1">
            <a:spLocks noGrp="1"/>
          </p:cNvSpPr>
          <p:nvPr>
            <p:ph type="body" idx="1"/>
          </p:nvPr>
        </p:nvSpPr>
        <p:spPr>
          <a:xfrm>
            <a:off x="216000" y="1729062"/>
            <a:ext cx="11976000" cy="340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Nâng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giao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diện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(UI):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Nâng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Console sang Web App.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Nâng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Thay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file TXT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bằng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CSDL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quan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(SQLite/MySQL)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xử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lý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truy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vấn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phức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tạp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Mở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rộng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tạo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playlist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ngẫu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nhiên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thể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API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nhạc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tế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13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13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tương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lai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"/>
          <p:cNvSpPr txBox="1">
            <a:spLocks noGrp="1"/>
          </p:cNvSpPr>
          <p:nvPr>
            <p:ph type="title"/>
          </p:nvPr>
        </p:nvSpPr>
        <p:spPr>
          <a:xfrm>
            <a:off x="1780114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4" tIns="45700" rIns="91414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Tài liệu tham khảo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1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886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4" tIns="45700" rIns="91414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[1] Python Software Foundation, “Python 3.11 Official Documentation”, </a:t>
            </a:r>
            <a:r>
              <a:rPr lang="en-US" b="1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https://docs.python.org/3/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[2] Python Docs, “Built-in Types: list, str methods”, </a:t>
            </a:r>
            <a:r>
              <a:rPr lang="en-US" b="1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https://docs.python.org/3/library/stdtypes.html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GeeksforGeeks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, “Binary Search Algorithm in Python”, 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https://www.geeksforgeeks.org/binary-search/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ĐH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Lạc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Hồng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, “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cương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môn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Kỹ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Lập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Trình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”, 2024.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1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4" tIns="45700" rIns="91414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1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4" tIns="45700" rIns="91414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Tài liệu hỗ trợ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Câu hỏi &amp; Thảo luận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1" name="Google Shape;401;p15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8" r="56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5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4" name="Google Shape;404;p15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hoangminhphat369@gmail.com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6" name="Google Shape;406;p15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cs.lhu.edu.vn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15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HK2 – 2025-2026</a:t>
            </a:r>
            <a:endParaRPr sz="1400" b="0" i="0" u="none" strike="noStrike" cap="none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15"/>
          <p:cNvSpPr txBox="1">
            <a:spLocks noGrp="1"/>
          </p:cNvSpPr>
          <p:nvPr>
            <p:ph type="ftr" idx="11"/>
          </p:nvPr>
        </p:nvSpPr>
        <p:spPr>
          <a:xfrm>
            <a:off x="3607515" y="6254813"/>
            <a:ext cx="56906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</a:t>
            </a:r>
            <a:r>
              <a:rPr lang="en-US" sz="1800" b="1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Lý</a:t>
            </a:r>
            <a:r>
              <a:rPr lang="en-US" sz="1800" b="1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1800" b="1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1800" b="1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1800" b="1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Playlist</a:t>
            </a:r>
            <a:endParaRPr sz="1100" b="1" i="0" u="none" strike="noStrike" cap="none" dirty="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15"/>
          <p:cNvSpPr txBox="1">
            <a:spLocks noGrp="1"/>
          </p:cNvSpPr>
          <p:nvPr>
            <p:ph type="sldNum" idx="12"/>
          </p:nvPr>
        </p:nvSpPr>
        <p:spPr>
          <a:xfrm>
            <a:off x="9298142" y="6356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1682</Words>
  <Application>Microsoft Office PowerPoint</Application>
  <PresentationFormat>Widescreen</PresentationFormat>
  <Paragraphs>185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Times New Roman</vt:lpstr>
      <vt:lpstr>Quattrocento Sans</vt:lpstr>
      <vt:lpstr>Roboto</vt:lpstr>
      <vt:lpstr>Avenir</vt:lpstr>
      <vt:lpstr>Roboto Black</vt:lpstr>
      <vt:lpstr>Roboto Medium</vt:lpstr>
      <vt:lpstr>Times</vt:lpstr>
      <vt:lpstr>Arial</vt:lpstr>
      <vt:lpstr>Calibri</vt:lpstr>
      <vt:lpstr>AccentBoxVTI</vt:lpstr>
      <vt:lpstr>BÁO CÁO ĐỒ ÁN CUỐI KỲ Quản Lý Bài Hát Trong Playlist Môn: Kỹ Thuật Lập Trình</vt:lpstr>
      <vt:lpstr>Giới thiệu Tên đề tài &amp; Nhóm</vt:lpstr>
      <vt:lpstr>NỘI DUNG</vt:lpstr>
      <vt:lpstr>Giới Thiệu Đề Tài</vt:lpstr>
      <vt:lpstr>Mục Tiêu Đề Tài</vt:lpstr>
      <vt:lpstr>Phạm Vi &amp; Phương Pháp</vt:lpstr>
      <vt:lpstr>Khảo Sát &amp; Yêu Cầu Hệ Thống</vt:lpstr>
      <vt:lpstr>Kiến Trúc Hệ Thống</vt:lpstr>
      <vt:lpstr>Thiết Kế Lưu Đồ Hệ Thống</vt:lpstr>
      <vt:lpstr>Biện Luận CTDL &amp; Thuật Toán</vt:lpstr>
      <vt:lpstr>Công Cụ &amp; Tiến Độ Thực Hiện</vt:lpstr>
      <vt:lpstr>Kết Quả Thực Hiện</vt:lpstr>
      <vt:lpstr>Bảng Kiểm Thử</vt:lpstr>
      <vt:lpstr>Kết luận &amp; Đánh giá</vt:lpstr>
      <vt:lpstr>Những tính năng, phương pháp sẽ phát triển</vt:lpstr>
      <vt:lpstr>Tài liệu tham khảo</vt:lpstr>
      <vt:lpstr>Câu hỏi &amp; Thảo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 CUỐI KỲ Quản Lý Bài Hát Trong Playlist Môn: Kỹ Thuật Lập Trình</dc:title>
  <cp:lastModifiedBy>Trần Huy</cp:lastModifiedBy>
  <cp:revision>4</cp:revision>
  <dcterms:modified xsi:type="dcterms:W3CDTF">2026-05-28T04:18:03Z</dcterms:modified>
</cp:coreProperties>
</file>